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03057"/>
                </a:solidFill>
                <a:latin typeface="Arial"/>
              </a:defRPr>
            </a:pPr>
            <a:r>
              <a:rPr sz="1200" b="0" i="0" u="none" strike="noStrike">
                <a:solidFill>
                  <a:srgbClr val="003057"/>
                </a:solidFill>
                <a:latin typeface="Arial"/>
              </a:rPr>
              <a:t>Sample Distribution (n=330, 32.9 min)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Samples</c:v>
                </c:pt>
              </c:strCache>
            </c:strRef>
          </c:tx>
          <c:spPr>
            <a:solidFill>
              <a:srgbClr val="4472C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A1A2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4472C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D7D31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5803D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B91C1C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Supine
(N=57)</c:v>
                  </c:pt>
                  <c:pt idx="1">
                    <c:v>Prone
(N=103)</c:v>
                  </c:pt>
                  <c:pt idx="2">
                    <c:v>Left Lat.
(N=98)</c:v>
                  </c:pt>
                  <c:pt idx="3">
                    <c:v>Right Lat.
(N=72)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57</c:v>
                </c:pt>
                <c:pt idx="1">
                  <c:v>103</c:v>
                </c:pt>
                <c:pt idx="2">
                  <c:v>98</c:v>
                </c:pt>
                <c:pt idx="3">
                  <c:v>72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A1A2E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7415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7415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30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310128"/>
            <a:ext cx="9144000" cy="1833372"/>
          </a:xfrm>
          <a:prstGeom prst="rect">
            <a:avLst/>
          </a:prstGeom>
          <a:solidFill>
            <a:srgbClr val="002244"/>
          </a:solidFill>
          <a:ln w="12700">
            <a:solidFill>
              <a:srgbClr val="0022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305556"/>
            <a:ext cx="9144000" cy="54864"/>
          </a:xfrm>
          <a:prstGeom prst="rect">
            <a:avLst/>
          </a:prstGeom>
          <a:solidFill>
            <a:srgbClr val="C7A832"/>
          </a:solidFill>
          <a:ln w="12700">
            <a:solidFill>
              <a:srgbClr val="C7A83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47472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800" b="1" dirty="0">
                <a:solidFill>
                  <a:srgbClr val="FFD966"/>
                </a:solidFill>
              </a:rPr>
              <a:t>PostureSense</a:t>
            </a:r>
            <a:endParaRPr lang="en-US" sz="5800" dirty="0"/>
          </a:p>
        </p:txBody>
      </p:sp>
      <p:sp>
        <p:nvSpPr>
          <p:cNvPr id="5" name="Text 3"/>
          <p:cNvSpPr/>
          <p:nvPr/>
        </p:nvSpPr>
        <p:spPr>
          <a:xfrm>
            <a:off x="548640" y="1591056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A Single-Accelerometer Wearable for Sleep Lying Position Detection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8229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A9AB8"/>
                </a:solidFill>
              </a:rPr>
              <a:t>Hari Krishna Koneti  ·  Northern Arizona University  ·  Spring 2026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371600" y="2724912"/>
            <a:ext cx="64008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7A83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71600" y="2724912"/>
            <a:ext cx="6400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3057"/>
                </a:solidFill>
              </a:rPr>
              <a:t>N=330 samples  ·  4 postures  ·  Supine recall = 1.000  ·  100% accuracy (controlled)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02920" y="3456432"/>
            <a:ext cx="1920240" cy="475488"/>
          </a:xfrm>
          <a:prstGeom prst="roundRect">
            <a:avLst>
              <a:gd name="adj" fmla="val 13462"/>
            </a:avLst>
          </a:prstGeom>
          <a:solidFill>
            <a:srgbClr val="004176"/>
          </a:solidFill>
          <a:ln w="12700">
            <a:solidFill>
              <a:srgbClr val="C7A83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3456432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Arduino Uno R3 + ADXL345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578608" y="3456432"/>
            <a:ext cx="1920240" cy="475488"/>
          </a:xfrm>
          <a:prstGeom prst="roundRect">
            <a:avLst>
              <a:gd name="adj" fmla="val 13462"/>
            </a:avLst>
          </a:prstGeom>
          <a:solidFill>
            <a:srgbClr val="14532D"/>
          </a:solidFill>
          <a:ln w="12700">
            <a:solidFill>
              <a:srgbClr val="C7A83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78608" y="3456432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~$30 BOM Cost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54296" y="3456432"/>
            <a:ext cx="1920240" cy="475488"/>
          </a:xfrm>
          <a:prstGeom prst="roundRect">
            <a:avLst>
              <a:gd name="adj" fmla="val 13462"/>
            </a:avLst>
          </a:prstGeom>
          <a:solidFill>
            <a:srgbClr val="1E3A5F"/>
          </a:solidFill>
          <a:ln w="12700">
            <a:solidFill>
              <a:srgbClr val="C7A83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54296" y="3456432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Open-Source Firmware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729984" y="3456432"/>
            <a:ext cx="1920240" cy="475488"/>
          </a:xfrm>
          <a:prstGeom prst="roundRect">
            <a:avLst>
              <a:gd name="adj" fmla="val 13462"/>
            </a:avLst>
          </a:prstGeom>
          <a:solidFill>
            <a:srgbClr val="44337A"/>
          </a:solidFill>
          <a:ln w="12700">
            <a:solidFill>
              <a:srgbClr val="C7A83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729984" y="3456432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fₛ = 0.167 Hz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4078224"/>
            <a:ext cx="8229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A7C0"/>
                </a:solidFill>
              </a:rPr>
              <a:t>EE599 Wearable Computing  ·  INF632  ·  Spring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03057"/>
          </a:solidFill>
          <a:ln w="12700">
            <a:solidFill>
              <a:srgbClr val="0030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Clinical and Engineering Motivation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621792"/>
            <a:ext cx="9144000" cy="50292"/>
          </a:xfrm>
          <a:prstGeom prst="rect">
            <a:avLst/>
          </a:prstGeom>
          <a:solidFill>
            <a:srgbClr val="C7A832"/>
          </a:solidFill>
          <a:ln w="12700">
            <a:solidFill>
              <a:srgbClr val="C7A83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56032" y="786384"/>
            <a:ext cx="4407408" cy="2706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56032" y="786384"/>
            <a:ext cx="45720" cy="2706624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8912" y="841248"/>
            <a:ext cx="404164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057"/>
                </a:solidFill>
              </a:rPr>
              <a:t>Clinical Context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38912" y="1234440"/>
            <a:ext cx="4133088" cy="2148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374151"/>
                </a:solidFill>
              </a:rPr>
              <a:t>Positional OSA</a:t>
            </a:r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374151"/>
                </a:solidFill>
              </a:rPr>
              <a:t>: AHI ratio supine/non-supine ≥2 [1,7]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374151"/>
                </a:solidFill>
              </a:rPr>
              <a:t>Mechanism: gravity displaces tongue and soft palate posteriorly in supine posture, reducing airway patency [7]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374151"/>
                </a:solidFill>
              </a:rPr>
              <a:t>Positional therapy (avoidance of supine sleep) is viable for a substantial patient subset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374151"/>
                </a:solidFill>
              </a:rPr>
              <a:t>Overnight monitoring is essential to verify therapy adherence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846320" y="786384"/>
            <a:ext cx="4023360" cy="2706624"/>
          </a:xfrm>
          <a:prstGeom prst="rect">
            <a:avLst/>
          </a:prstGeom>
          <a:solidFill>
            <a:srgbClr val="FFF5F5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46320" y="786384"/>
            <a:ext cx="45720" cy="2706624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0" y="841248"/>
            <a:ext cx="3611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91C1C"/>
                </a:solidFill>
              </a:rPr>
              <a:t>Engineering Gap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29200" y="1234440"/>
            <a:ext cx="3749040" cy="2148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374151"/>
                </a:solidFill>
              </a:rPr>
              <a:t>No home-deployable device provides </a:t>
            </a:r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374151"/>
                </a:solidFill>
              </a:rPr>
              <a:t>explicit lying-position labels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374151"/>
                </a:solidFill>
              </a:rPr>
              <a:t>Polysomnography: laboratory-only, high cost, unsuitable for longitudinal monitoring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374151"/>
                </a:solidFill>
              </a:rPr>
              <a:t>Commercial trackers infer sleep quality from cardiorespiratory proxies — none report supine duration directly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256032" y="3602736"/>
            <a:ext cx="8613648" cy="1188720"/>
          </a:xfrm>
          <a:prstGeom prst="rect">
            <a:avLst/>
          </a:prstGeom>
          <a:solidFill>
            <a:srgbClr val="EBF5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56032" y="3602736"/>
            <a:ext cx="45720" cy="1188720"/>
          </a:xfrm>
          <a:prstGeom prst="rect">
            <a:avLst/>
          </a:prstGeom>
          <a:solidFill>
            <a:srgbClr val="003057"/>
          </a:solidFill>
          <a:ln w="12700">
            <a:solidFill>
              <a:srgbClr val="00305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3657600"/>
            <a:ext cx="8321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057"/>
                </a:solidFill>
              </a:rPr>
              <a:t>PostureSense: Explicit Posture Classification at ~$30 BOM Cost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38912" y="4059936"/>
            <a:ext cx="1920240" cy="475488"/>
          </a:xfrm>
          <a:prstGeom prst="roundRect">
            <a:avLst>
              <a:gd name="adj" fmla="val 15385"/>
            </a:avLst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8912" y="4059936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Supine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523744" y="4059936"/>
            <a:ext cx="1920240" cy="475488"/>
          </a:xfrm>
          <a:prstGeom prst="roundRect">
            <a:avLst>
              <a:gd name="adj" fmla="val 15385"/>
            </a:avLst>
          </a:prstGeom>
          <a:solidFill>
            <a:srgbClr val="ED7D31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23744" y="4059936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Prone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608576" y="4059936"/>
            <a:ext cx="1920240" cy="475488"/>
          </a:xfrm>
          <a:prstGeom prst="roundRect">
            <a:avLst>
              <a:gd name="adj" fmla="val 15385"/>
            </a:avLst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08576" y="4059936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Left Lateral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693408" y="4059936"/>
            <a:ext cx="1920240" cy="475488"/>
          </a:xfrm>
          <a:prstGeom prst="roundRect">
            <a:avLst>
              <a:gd name="adj" fmla="val 15385"/>
            </a:avLst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693408" y="4059936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Right Lateral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38912" y="4599432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369A1"/>
                </a:solidFill>
              </a:rPr>
              <a:t>N=330 samples · 4 postures · $30 BOM · supine recall = 1.000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03057"/>
          </a:solidFill>
          <a:ln w="12700">
            <a:solidFill>
              <a:srgbClr val="0030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Review of Related Work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621792"/>
            <a:ext cx="9144000" cy="50292"/>
          </a:xfrm>
          <a:prstGeom prst="rect">
            <a:avLst/>
          </a:prstGeom>
          <a:solidFill>
            <a:srgbClr val="C7A832"/>
          </a:solidFill>
          <a:ln w="12700">
            <a:solidFill>
              <a:srgbClr val="C7A83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56032" y="786384"/>
            <a:ext cx="8613648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56032" y="786384"/>
            <a:ext cx="45720" cy="713232"/>
          </a:xfrm>
          <a:prstGeom prst="rect">
            <a:avLst/>
          </a:prstGeom>
          <a:solidFill>
            <a:srgbClr val="003057"/>
          </a:solidFill>
          <a:ln w="12700">
            <a:solidFill>
              <a:srgbClr val="00305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85039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3057"/>
                </a:solidFill>
              </a:rPr>
              <a:t>Alinia &amp; Ghasemzadeh [2]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11480" y="1133856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</a:rPr>
              <a:t>Chest-mounted single IMU · 89–95% accuracy across multiple subjects · Inter-subject placement variability is the dominant error source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967728" y="987552"/>
            <a:ext cx="1792224" cy="310896"/>
          </a:xfrm>
          <a:prstGeom prst="roundRect">
            <a:avLst>
              <a:gd name="adj" fmla="val 17647"/>
            </a:avLst>
          </a:prstGeom>
          <a:solidFill>
            <a:srgbClr val="003057"/>
          </a:solidFill>
          <a:ln w="12700">
            <a:solidFill>
              <a:srgbClr val="00305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967728" y="987552"/>
            <a:ext cx="179222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Placement &gt; Algorithm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56032" y="1609344"/>
            <a:ext cx="8613648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56032" y="1609344"/>
            <a:ext cx="45720" cy="713232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167335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369A1"/>
                </a:solidFill>
              </a:rPr>
              <a:t>Baan et al. [3]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11480" y="1956816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</a:rPr>
              <a:t>Chest smartphone accelerometer · 90–96% accuracy · Sensor hardware quality is secondary to placement consistency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967728" y="1810512"/>
            <a:ext cx="1792224" cy="310896"/>
          </a:xfrm>
          <a:prstGeom prst="roundRect">
            <a:avLst>
              <a:gd name="adj" fmla="val 17647"/>
            </a:avLst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967728" y="1810512"/>
            <a:ext cx="179222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Cost-Feasible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56032" y="2432304"/>
            <a:ext cx="8613648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56032" y="2432304"/>
            <a:ext cx="45720" cy="713232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249631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5803D"/>
                </a:solidFill>
              </a:rPr>
              <a:t>Jeng et al. [4]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11480" y="2779776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</a:rPr>
              <a:t>Wrist-mounted IMU · 88–93% in home-care setting · Wrist orientation varies with arm position, independent of trunk posture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967728" y="2633472"/>
            <a:ext cx="1792224" cy="310896"/>
          </a:xfrm>
          <a:prstGeom prst="roundRect">
            <a:avLst>
              <a:gd name="adj" fmla="val 17647"/>
            </a:avLst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967728" y="2633472"/>
            <a:ext cx="179222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Chest Preferred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56032" y="3255264"/>
            <a:ext cx="8613648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56032" y="3255264"/>
            <a:ext cx="45720" cy="713232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11480" y="331927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B45309"/>
                </a:solidFill>
              </a:rPr>
              <a:t>Chen et al. [5]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411480" y="3602736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</a:rPr>
              <a:t>Embedded threshold rules achieve accuracy comparable to trained classifiers for static posture detection on embedded hardware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967728" y="3456432"/>
            <a:ext cx="1792224" cy="310896"/>
          </a:xfrm>
          <a:prstGeom prst="roundRect">
            <a:avLst>
              <a:gd name="adj" fmla="val 17647"/>
            </a:avLst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967728" y="3456432"/>
            <a:ext cx="179222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Rule Sufficient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256032" y="4078224"/>
            <a:ext cx="8613648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56032" y="4078224"/>
            <a:ext cx="45720" cy="713232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11480" y="414223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B91C1C"/>
                </a:solidFill>
              </a:rPr>
              <a:t>Fonseca et al. [8]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411480" y="4425696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</a:rPr>
              <a:t>Controlled-to-free-living accuracy reduction: 5–15 pp · Controlled results represent an upper performance bound, not a deployment estimate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6967728" y="4279392"/>
            <a:ext cx="1792224" cy="310896"/>
          </a:xfrm>
          <a:prstGeom prst="roundRect">
            <a:avLst>
              <a:gd name="adj" fmla="val 17647"/>
            </a:avLst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967728" y="4279392"/>
            <a:ext cx="179222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Controlled ≠ Overnight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03057"/>
          </a:solidFill>
          <a:ln w="12700">
            <a:solidFill>
              <a:srgbClr val="0030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Research Question and Testable Hypotheses  (α = 0.05)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621792"/>
            <a:ext cx="9144000" cy="50292"/>
          </a:xfrm>
          <a:prstGeom prst="rect">
            <a:avLst/>
          </a:prstGeom>
          <a:solidFill>
            <a:srgbClr val="C7A832"/>
          </a:solidFill>
          <a:ln w="12700">
            <a:solidFill>
              <a:srgbClr val="C7A83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56032" y="786384"/>
            <a:ext cx="8613648" cy="658368"/>
          </a:xfrm>
          <a:prstGeom prst="rect">
            <a:avLst/>
          </a:prstGeom>
          <a:solidFill>
            <a:srgbClr val="EBF5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56032" y="786384"/>
            <a:ext cx="45720" cy="658368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786384"/>
            <a:ext cx="8321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RQ: Can a single tri-axial accelerometer, chest-mounted at fₛ = 0.167 Hz, discriminate four primary sleep lying positions exclusively from static gravitational acceleration components, achieving clinically meaningful classification performance?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56032" y="1554480"/>
            <a:ext cx="2816352" cy="327355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56032" y="1554480"/>
            <a:ext cx="2816352" cy="457200"/>
          </a:xfrm>
          <a:prstGeom prst="rect">
            <a:avLst/>
          </a:prstGeom>
          <a:solidFill>
            <a:srgbClr val="003057"/>
          </a:solidFill>
          <a:ln w="12700">
            <a:solidFill>
              <a:srgbClr val="00305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6032" y="1554480"/>
            <a:ext cx="28163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H1 — Primary — Classifier Accuracy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347472" y="2066544"/>
            <a:ext cx="26334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CA3AF"/>
                </a:solidFill>
              </a:rPr>
              <a:t>H₀: Accuracy ≤ 0.90 or κ ≤ 0.85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47472" y="2377440"/>
            <a:ext cx="2633472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7472" y="2432304"/>
            <a:ext cx="26334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3057"/>
                </a:solidFill>
              </a:rPr>
              <a:t>H₁: Accuracy &gt; 0.90 AND κ &gt; 0.85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47472" y="2788920"/>
            <a:ext cx="2633472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7472" y="2852928"/>
            <a:ext cx="2633472" cy="17007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Evaluation: KNN (k=5), stratified 5-fold CV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Decision rule: reject H₀ at α = 0.05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Expected: gravitational class separability &gt;&gt; noise floor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163824" y="1554480"/>
            <a:ext cx="2816352" cy="327355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163824" y="1554480"/>
            <a:ext cx="2816352" cy="45720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163824" y="1554480"/>
            <a:ext cx="28163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H2 — Per-Class Sensitivity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3255264" y="2066544"/>
            <a:ext cx="26334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CA3AF"/>
                </a:solidFill>
              </a:rPr>
              <a:t>H₀: Recall ≤ 0.90 for at least one class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255264" y="2377440"/>
            <a:ext cx="2633472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55264" y="2432304"/>
            <a:ext cx="26334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91C1C"/>
                </a:solidFill>
              </a:rPr>
              <a:t>H₁: Recall ≥ 0.90 for all four classes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255264" y="2788920"/>
            <a:ext cx="2633472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55264" y="2852928"/>
            <a:ext cx="2633472" cy="17007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Clinical priority: supine recall is primary metric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FN for supine = undetected OSA risk period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Decision rule: reject H₀ at α = 0.05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071616" y="1554480"/>
            <a:ext cx="2816352" cy="327355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071616" y="1554480"/>
            <a:ext cx="2816352" cy="45720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071616" y="1554480"/>
            <a:ext cx="28163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H3 — Embedded Rule Viability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6163056" y="2066544"/>
            <a:ext cx="26334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CA3AF"/>
                </a:solidFill>
              </a:rPr>
              <a:t>H₀: Threshold classifier accuracy ≤ 0.85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163056" y="2377440"/>
            <a:ext cx="2633472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163056" y="2432304"/>
            <a:ext cx="26334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5803D"/>
                </a:solidFill>
              </a:rPr>
              <a:t>H₁: Threshold classifier accuracy &gt; 0.85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163056" y="2788920"/>
            <a:ext cx="2633472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163056" y="2852928"/>
            <a:ext cx="2633472" cy="17007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No stored model, no training data required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Rationale: Chen et al. [5]: threshold ≈ KNN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for static posture on embedded hardware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Decision rule: reject H₀ at α = 0.05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03057"/>
          </a:solidFill>
          <a:ln w="12700">
            <a:solidFill>
              <a:srgbClr val="0030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Device Design and Firmware Configuration  (sketch_mar24b.ino)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621792"/>
            <a:ext cx="9144000" cy="50292"/>
          </a:xfrm>
          <a:prstGeom prst="rect">
            <a:avLst/>
          </a:prstGeom>
          <a:solidFill>
            <a:srgbClr val="C7A832"/>
          </a:solidFill>
          <a:ln w="12700">
            <a:solidFill>
              <a:srgbClr val="C7A83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56032" y="786384"/>
            <a:ext cx="4133088" cy="413308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20624" y="841248"/>
            <a:ext cx="3749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3057"/>
                </a:solidFill>
              </a:rPr>
              <a:t>System Hardware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256032" y="1225296"/>
            <a:ext cx="4133088" cy="402336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9184" y="1298448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Microcontroller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993392" y="1298448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</a:rPr>
              <a:t>Arduino Uno R3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56032" y="1645920"/>
            <a:ext cx="4133088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9184" y="171907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Sensor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993392" y="1719072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</a:rPr>
              <a:t>SparkFun ADXL345 breakout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56032" y="2066544"/>
            <a:ext cx="4133088" cy="402336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9184" y="2139696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Interface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993392" y="2139696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</a:rPr>
              <a:t>I²C — SDA→A4, SCL→A5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56032" y="2487168"/>
            <a:ext cx="4133088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9184" y="256032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Supply voltage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993392" y="256032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</a:rPr>
              <a:t>VCC → 3.3 V (3V3 rail)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56032" y="2907792"/>
            <a:ext cx="4133088" cy="402336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9184" y="2980944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Pull-up resistors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993392" y="2980944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</a:rPr>
              <a:t>Onboard (SparkFun breakout)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56032" y="3328416"/>
            <a:ext cx="4133088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9184" y="3401568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Placement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993392" y="3401568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</a:rPr>
              <a:t>Mid-sternum, medical adhesive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56032" y="3749040"/>
            <a:ext cx="4133088" cy="402336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9184" y="382219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BOM cost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993392" y="3822192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</a:rPr>
              <a:t>~$30 (component-level)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4151376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3057"/>
                </a:solidFill>
              </a:rPr>
              <a:t>Dominant-Axis Mapping (T = 0.5 g):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292608" y="4434840"/>
            <a:ext cx="941832" cy="457200"/>
          </a:xfrm>
          <a:prstGeom prst="roundRect">
            <a:avLst>
              <a:gd name="adj" fmla="val 12000"/>
            </a:avLst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92608" y="4434840"/>
            <a:ext cx="9418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Supine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a_y=+1g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1307592" y="4434840"/>
            <a:ext cx="941832" cy="457200"/>
          </a:xfrm>
          <a:prstGeom prst="roundRect">
            <a:avLst>
              <a:gd name="adj" fmla="val 12000"/>
            </a:avLst>
          </a:prstGeom>
          <a:solidFill>
            <a:srgbClr val="ED7D31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307592" y="4434840"/>
            <a:ext cx="9418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Prone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a_y=-1g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2322576" y="4434840"/>
            <a:ext cx="941832" cy="457200"/>
          </a:xfrm>
          <a:prstGeom prst="roundRect">
            <a:avLst>
              <a:gd name="adj" fmla="val 12000"/>
            </a:avLst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322576" y="4434840"/>
            <a:ext cx="9418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Left Lat.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a_z=-1g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3337560" y="4434840"/>
            <a:ext cx="941832" cy="457200"/>
          </a:xfrm>
          <a:prstGeom prst="roundRect">
            <a:avLst>
              <a:gd name="adj" fmla="val 12000"/>
            </a:avLst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337560" y="4434840"/>
            <a:ext cx="9418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Right Lat.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a_z=+1g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4572000" y="786384"/>
            <a:ext cx="4297680" cy="413308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4718304" y="841248"/>
            <a:ext cx="398678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3057"/>
                </a:solidFill>
              </a:rPr>
              <a:t>Firmware Parameters (confirmed from sketch_mar24b.ino)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4572000" y="1225296"/>
            <a:ext cx="4297680" cy="457200"/>
          </a:xfrm>
          <a:prstGeom prst="rect">
            <a:avLst/>
          </a:prstGeom>
          <a:solidFill>
            <a:srgbClr val="003057"/>
          </a:solidFill>
          <a:ln w="12700">
            <a:solidFill>
              <a:srgbClr val="DDE3E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626864" y="1261872"/>
            <a:ext cx="15727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Firmware Call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6217920" y="1261872"/>
            <a:ext cx="960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7196328" y="1261872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4572000" y="1700784"/>
            <a:ext cx="42976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626864" y="1737360"/>
            <a:ext cx="15727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ADXL345 adxl =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ADXL345()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6217920" y="1737360"/>
            <a:ext cx="960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I²C mode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7196328" y="1737360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 CS pin → I²C default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4572000" y="2176272"/>
            <a:ext cx="4297680" cy="457200"/>
          </a:xfrm>
          <a:prstGeom prst="rect">
            <a:avLst/>
          </a:prstGeom>
          <a:solidFill>
            <a:srgbClr val="F0F4FF"/>
          </a:solidFill>
          <a:ln w="12700">
            <a:solidFill>
              <a:srgbClr val="DDE3E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626864" y="2212848"/>
            <a:ext cx="15727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adxl.setRangeSetting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(16)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6217920" y="2212848"/>
            <a:ext cx="960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±16 g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7196328" y="2212848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32 LSB/g scale factor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4572000" y="2651760"/>
            <a:ext cx="42976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626864" y="2688336"/>
            <a:ext cx="15727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delay(6000)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6217920" y="2688336"/>
            <a:ext cx="960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6000 ms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7196328" y="2688336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fₛ = 0.167 Hz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4572000" y="3127248"/>
            <a:ext cx="4297680" cy="457200"/>
          </a:xfrm>
          <a:prstGeom prst="rect">
            <a:avLst/>
          </a:prstGeom>
          <a:solidFill>
            <a:srgbClr val="F0F4FF"/>
          </a:solidFill>
          <a:ln w="12700">
            <a:solidFill>
              <a:srgbClr val="DDE3EF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626864" y="3163824"/>
            <a:ext cx="15727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Serial.print(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millis,x,y,z)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6217920" y="3163824"/>
            <a:ext cx="960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cols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7196328" y="3163824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Produces dataset columns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4572000" y="3602736"/>
            <a:ext cx="42976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626864" y="3639312"/>
            <a:ext cx="15727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setActivityThreshold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(75)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6217920" y="3639312"/>
            <a:ext cx="960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4.69 g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7196328" y="3639312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ISR inactive; 4.5× max observed SMV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4572000" y="4078224"/>
            <a:ext cx="4297680" cy="457200"/>
          </a:xfrm>
          <a:prstGeom prst="rect">
            <a:avLst/>
          </a:prstGeom>
          <a:solidFill>
            <a:srgbClr val="F0F4FF"/>
          </a:solidFill>
          <a:ln w="12700">
            <a:solidFill>
              <a:srgbClr val="DDE3EF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626864" y="4114800"/>
            <a:ext cx="15727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//attachInterrupt()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6217920" y="4114800"/>
            <a:ext cx="960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disabled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7196328" y="4114800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 effect on readings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03057"/>
          </a:solidFill>
          <a:ln w="12700">
            <a:solidFill>
              <a:srgbClr val="0030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Experimental Methods and Dataset Characterisation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621792"/>
            <a:ext cx="9144000" cy="50292"/>
          </a:xfrm>
          <a:prstGeom prst="rect">
            <a:avLst/>
          </a:prstGeom>
          <a:solidFill>
            <a:srgbClr val="C7A832"/>
          </a:solidFill>
          <a:ln w="12700">
            <a:solidFill>
              <a:srgbClr val="C7A83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56032" y="786384"/>
            <a:ext cx="4133088" cy="413308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20624" y="841248"/>
            <a:ext cx="3749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3057"/>
                </a:solidFill>
              </a:rPr>
              <a:t>Data Collection Protocol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256032" y="1225296"/>
            <a:ext cx="4133088" cy="402336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10896" y="1289304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374151"/>
                </a:solidFill>
              </a:rPr>
              <a:t>Study design:</a:t>
            </a:r>
            <a:endParaRPr lang="en-US" sz="980" dirty="0"/>
          </a:p>
        </p:txBody>
      </p:sp>
      <p:sp>
        <p:nvSpPr>
          <p:cNvPr id="9" name="Text 7"/>
          <p:cNvSpPr/>
          <p:nvPr/>
        </p:nvSpPr>
        <p:spPr>
          <a:xfrm>
            <a:off x="1737360" y="1271016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1A1A2E"/>
                </a:solidFill>
              </a:rPr>
              <a:t>Single-subject feasibility pilot (N=1)</a:t>
            </a:r>
            <a:endParaRPr lang="en-US" sz="980" dirty="0"/>
          </a:p>
        </p:txBody>
      </p:sp>
      <p:sp>
        <p:nvSpPr>
          <p:cNvPr id="10" name="Shape 8"/>
          <p:cNvSpPr/>
          <p:nvPr/>
        </p:nvSpPr>
        <p:spPr>
          <a:xfrm>
            <a:off x="256032" y="1645920"/>
            <a:ext cx="4133088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10896" y="1709928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374151"/>
                </a:solidFill>
              </a:rPr>
              <a:t>Participant:</a:t>
            </a:r>
            <a:endParaRPr lang="en-US" sz="980" dirty="0"/>
          </a:p>
        </p:txBody>
      </p:sp>
      <p:sp>
        <p:nvSpPr>
          <p:cNvPr id="12" name="Text 10"/>
          <p:cNvSpPr/>
          <p:nvPr/>
        </p:nvSpPr>
        <p:spPr>
          <a:xfrm>
            <a:off x="1737360" y="169164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1A1A2E"/>
                </a:solidFill>
              </a:rPr>
              <a:t>System developer (selection bias; see Limitations)</a:t>
            </a:r>
            <a:endParaRPr lang="en-US" sz="980" dirty="0"/>
          </a:p>
        </p:txBody>
      </p:sp>
      <p:sp>
        <p:nvSpPr>
          <p:cNvPr id="13" name="Shape 11"/>
          <p:cNvSpPr/>
          <p:nvPr/>
        </p:nvSpPr>
        <p:spPr>
          <a:xfrm>
            <a:off x="256032" y="2066544"/>
            <a:ext cx="4133088" cy="402336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10896" y="2130552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374151"/>
                </a:solidFill>
              </a:rPr>
              <a:t>Surface:</a:t>
            </a:r>
            <a:endParaRPr lang="en-US" sz="980" dirty="0"/>
          </a:p>
        </p:txBody>
      </p:sp>
      <p:sp>
        <p:nvSpPr>
          <p:cNvPr id="15" name="Text 13"/>
          <p:cNvSpPr/>
          <p:nvPr/>
        </p:nvSpPr>
        <p:spPr>
          <a:xfrm>
            <a:off x="1737360" y="2112264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1A1A2E"/>
                </a:solidFill>
              </a:rPr>
              <a:t>Firm flat surface; no pillow (eliminates head-angle confound)</a:t>
            </a:r>
            <a:endParaRPr lang="en-US" sz="980" dirty="0"/>
          </a:p>
        </p:txBody>
      </p:sp>
      <p:sp>
        <p:nvSpPr>
          <p:cNvPr id="16" name="Shape 14"/>
          <p:cNvSpPr/>
          <p:nvPr/>
        </p:nvSpPr>
        <p:spPr>
          <a:xfrm>
            <a:off x="256032" y="2487168"/>
            <a:ext cx="4133088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10896" y="2551176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374151"/>
                </a:solidFill>
              </a:rPr>
              <a:t>Protocol:</a:t>
            </a:r>
            <a:endParaRPr lang="en-US" sz="980" dirty="0"/>
          </a:p>
        </p:txBody>
      </p:sp>
      <p:sp>
        <p:nvSpPr>
          <p:cNvPr id="18" name="Text 16"/>
          <p:cNvSpPr/>
          <p:nvPr/>
        </p:nvSpPr>
        <p:spPr>
          <a:xfrm>
            <a:off x="1737360" y="2532888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1A1A2E"/>
                </a:solidFill>
              </a:rPr>
              <a:t>4 postures × ~3 min static hold each</a:t>
            </a:r>
            <a:endParaRPr lang="en-US" sz="980" dirty="0"/>
          </a:p>
        </p:txBody>
      </p:sp>
      <p:sp>
        <p:nvSpPr>
          <p:cNvPr id="19" name="Shape 17"/>
          <p:cNvSpPr/>
          <p:nvPr/>
        </p:nvSpPr>
        <p:spPr>
          <a:xfrm>
            <a:off x="256032" y="2907792"/>
            <a:ext cx="4133088" cy="402336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10896" y="2971800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374151"/>
                </a:solidFill>
              </a:rPr>
              <a:t>Sensor placement:</a:t>
            </a:r>
            <a:endParaRPr lang="en-US" sz="980" dirty="0"/>
          </a:p>
        </p:txBody>
      </p:sp>
      <p:sp>
        <p:nvSpPr>
          <p:cNvPr id="21" name="Text 19"/>
          <p:cNvSpPr/>
          <p:nvPr/>
        </p:nvSpPr>
        <p:spPr>
          <a:xfrm>
            <a:off x="1737360" y="2953512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1A1A2E"/>
                </a:solidFill>
              </a:rPr>
              <a:t>Mid-sternum adhesive; not re-placed between postures</a:t>
            </a:r>
            <a:endParaRPr lang="en-US" sz="980" dirty="0"/>
          </a:p>
        </p:txBody>
      </p:sp>
      <p:sp>
        <p:nvSpPr>
          <p:cNvPr id="22" name="Shape 20"/>
          <p:cNvSpPr/>
          <p:nvPr/>
        </p:nvSpPr>
        <p:spPr>
          <a:xfrm>
            <a:off x="256032" y="3328416"/>
            <a:ext cx="4133088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10896" y="3392424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374151"/>
                </a:solidFill>
              </a:rPr>
              <a:t>Firmware:</a:t>
            </a:r>
            <a:endParaRPr lang="en-US" sz="980" dirty="0"/>
          </a:p>
        </p:txBody>
      </p:sp>
      <p:sp>
        <p:nvSpPr>
          <p:cNvPr id="24" name="Text 22"/>
          <p:cNvSpPr/>
          <p:nvPr/>
        </p:nvSpPr>
        <p:spPr>
          <a:xfrm>
            <a:off x="1737360" y="3374136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1A1A2E"/>
                </a:solidFill>
              </a:rPr>
              <a:t>sketch_mar24b.ino — 0.167 Hz, raw counts via serial</a:t>
            </a:r>
            <a:endParaRPr lang="en-US" sz="980" dirty="0"/>
          </a:p>
        </p:txBody>
      </p:sp>
      <p:sp>
        <p:nvSpPr>
          <p:cNvPr id="25" name="Shape 23"/>
          <p:cNvSpPr/>
          <p:nvPr/>
        </p:nvSpPr>
        <p:spPr>
          <a:xfrm>
            <a:off x="256032" y="3749040"/>
            <a:ext cx="4133088" cy="402336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10896" y="3813048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374151"/>
                </a:solidFill>
              </a:rPr>
              <a:t>Pre-processing:</a:t>
            </a:r>
            <a:endParaRPr lang="en-US" sz="980" dirty="0"/>
          </a:p>
        </p:txBody>
      </p:sp>
      <p:sp>
        <p:nvSpPr>
          <p:cNvPr id="27" name="Text 25"/>
          <p:cNvSpPr/>
          <p:nvPr/>
        </p:nvSpPr>
        <p:spPr>
          <a:xfrm>
            <a:off x="1737360" y="379476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1A1A2E"/>
                </a:solidFill>
              </a:rPr>
              <a:t>Raw ADC / 32 → g-units  |  SMV = (ax²+ay²+az²)½</a:t>
            </a:r>
            <a:endParaRPr lang="en-US" sz="980" dirty="0"/>
          </a:p>
        </p:txBody>
      </p:sp>
      <p:sp>
        <p:nvSpPr>
          <p:cNvPr id="28" name="Shape 26"/>
          <p:cNvSpPr/>
          <p:nvPr/>
        </p:nvSpPr>
        <p:spPr>
          <a:xfrm>
            <a:off x="256032" y="4169664"/>
            <a:ext cx="4133088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10896" y="4233672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374151"/>
                </a:solidFill>
              </a:rPr>
              <a:t>Labels:</a:t>
            </a:r>
            <a:endParaRPr lang="en-US" sz="980" dirty="0"/>
          </a:p>
        </p:txBody>
      </p:sp>
      <p:sp>
        <p:nvSpPr>
          <p:cNvPr id="30" name="Text 28"/>
          <p:cNvSpPr/>
          <p:nvPr/>
        </p:nvSpPr>
        <p:spPr>
          <a:xfrm>
            <a:off x="1737360" y="4215384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1A1A2E"/>
                </a:solidFill>
              </a:rPr>
              <a:t>Physics-based dominant-axis rule; no external ground truth</a:t>
            </a:r>
            <a:endParaRPr lang="en-US" sz="980" dirty="0"/>
          </a:p>
        </p:txBody>
      </p:sp>
      <p:sp>
        <p:nvSpPr>
          <p:cNvPr id="31" name="Text 29"/>
          <p:cNvSpPr/>
          <p:nvPr/>
        </p:nvSpPr>
        <p:spPr>
          <a:xfrm>
            <a:off x="310896" y="4645152"/>
            <a:ext cx="40050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369A1"/>
                </a:solidFill>
              </a:rPr>
              <a:t>Analysis pipeline: Labels → Threshold (H3) → k sensitivity → 5-fold CV/KNN (H1,H2) → SMV ANOVA → Centroid</a:t>
            </a:r>
            <a:endParaRPr lang="en-US" sz="900" dirty="0"/>
          </a:p>
        </p:txBody>
      </p:sp>
      <p:graphicFrame>
        <p:nvGraphicFramePr>
          <p:cNvPr id="32" name="Chart 0" descr=""/>
          <p:cNvGraphicFramePr/>
          <p:nvPr/>
        </p:nvGraphicFramePr>
        <p:xfrm>
          <a:off x="4572000" y="786384"/>
          <a:ext cx="429768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33" name="Shape 30"/>
          <p:cNvSpPr/>
          <p:nvPr/>
        </p:nvSpPr>
        <p:spPr>
          <a:xfrm>
            <a:off x="4572000" y="3621024"/>
            <a:ext cx="4297680" cy="713232"/>
          </a:xfrm>
          <a:prstGeom prst="rect">
            <a:avLst/>
          </a:prstGeom>
          <a:solidFill>
            <a:srgbClr val="FEF3C7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4572000" y="3621024"/>
            <a:ext cx="45720" cy="713232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4718304" y="3657600"/>
            <a:ext cx="405993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8350F"/>
                </a:solidFill>
              </a:rPr>
              <a:t>Class imbalance: prone/supine = 1.81×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8350F"/>
                </a:solidFill>
              </a:rPr>
              <a:t>Overall accuracy is potentially misleading; per-class recall is the primary evaluation metric.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4572000" y="4425696"/>
            <a:ext cx="4297680" cy="493776"/>
          </a:xfrm>
          <a:prstGeom prst="rect">
            <a:avLst/>
          </a:prstGeom>
          <a:solidFill>
            <a:srgbClr val="EBF5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37" name="Text 34"/>
          <p:cNvSpPr/>
          <p:nvPr/>
        </p:nvSpPr>
        <p:spPr>
          <a:xfrm>
            <a:off x="4681728" y="4453128"/>
            <a:ext cx="4114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369A1"/>
                </a:solidFill>
              </a:rPr>
              <a:t>Random seed = 42 · All code from scratch · No external ML libraries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03057"/>
          </a:solidFill>
          <a:ln w="12700">
            <a:solidFill>
              <a:srgbClr val="0030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Feature Space Geometry and Class Separability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621792"/>
            <a:ext cx="9144000" cy="50292"/>
          </a:xfrm>
          <a:prstGeom prst="rect">
            <a:avLst/>
          </a:prstGeom>
          <a:solidFill>
            <a:srgbClr val="C7A832"/>
          </a:solidFill>
          <a:ln w="12700">
            <a:solidFill>
              <a:srgbClr val="C7A832"/>
            </a:solidFill>
            <a:prstDash val="solid"/>
          </a:ln>
        </p:spPr>
      </p:sp>
      <p:pic>
        <p:nvPicPr>
          <p:cNvPr id="5" name="Image 0" descr="/home/claude/fig1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56032" y="768096"/>
            <a:ext cx="5166360" cy="415137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577840" y="768096"/>
            <a:ext cx="3310128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5724144" y="822960"/>
            <a:ext cx="299923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3057"/>
                </a:solidFill>
              </a:rPr>
              <a:t>Pairwise Centroid Distances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724144" y="1225296"/>
            <a:ext cx="1554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Supine ↔ Prone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7296912" y="1225296"/>
            <a:ext cx="67665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3057"/>
                </a:solidFill>
              </a:rPr>
              <a:t>2.021 g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7991856" y="1261872"/>
            <a:ext cx="804672" cy="237744"/>
          </a:xfrm>
          <a:prstGeom prst="roundRect">
            <a:avLst>
              <a:gd name="adj" fmla="val 23077"/>
            </a:avLst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991856" y="1261872"/>
            <a:ext cx="8046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65×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5724144" y="1572768"/>
            <a:ext cx="1554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Supine ↔ Left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7296912" y="1572768"/>
            <a:ext cx="67665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3057"/>
                </a:solidFill>
              </a:rPr>
              <a:t>1.328 g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7991856" y="1609344"/>
            <a:ext cx="804672" cy="237744"/>
          </a:xfrm>
          <a:prstGeom prst="roundRect">
            <a:avLst>
              <a:gd name="adj" fmla="val 23077"/>
            </a:avLst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991856" y="1609344"/>
            <a:ext cx="8046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43×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5724144" y="1920240"/>
            <a:ext cx="1554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Supine ↔ Right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7296912" y="1920240"/>
            <a:ext cx="67665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3057"/>
                </a:solidFill>
              </a:rPr>
              <a:t>1.376 g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7991856" y="1956816"/>
            <a:ext cx="804672" cy="237744"/>
          </a:xfrm>
          <a:prstGeom prst="roundRect">
            <a:avLst>
              <a:gd name="adj" fmla="val 23077"/>
            </a:avLst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991856" y="1956816"/>
            <a:ext cx="8046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44×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5724144" y="2267712"/>
            <a:ext cx="1554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Prone ↔ Left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7296912" y="2267712"/>
            <a:ext cx="67665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3057"/>
                </a:solidFill>
              </a:rPr>
              <a:t>1.342 g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7991856" y="2304288"/>
            <a:ext cx="804672" cy="237744"/>
          </a:xfrm>
          <a:prstGeom prst="roundRect">
            <a:avLst>
              <a:gd name="adj" fmla="val 23077"/>
            </a:avLst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991856" y="2304288"/>
            <a:ext cx="8046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43×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5724144" y="2615184"/>
            <a:ext cx="1554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Left ↔ Right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7296912" y="2615184"/>
            <a:ext cx="67665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3057"/>
                </a:solidFill>
              </a:rPr>
              <a:t>1.772 g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7991856" y="2651760"/>
            <a:ext cx="804672" cy="237744"/>
          </a:xfrm>
          <a:prstGeom prst="roundRect">
            <a:avLst>
              <a:gd name="adj" fmla="val 23077"/>
            </a:avLst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7991856" y="2651760"/>
            <a:ext cx="8046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57×</a:t>
            </a:r>
            <a:endParaRPr lang="en-US" sz="950" dirty="0"/>
          </a:p>
        </p:txBody>
      </p:sp>
      <p:sp>
        <p:nvSpPr>
          <p:cNvPr id="28" name="Shape 25"/>
          <p:cNvSpPr/>
          <p:nvPr/>
        </p:nvSpPr>
        <p:spPr>
          <a:xfrm>
            <a:off x="5577840" y="3145536"/>
            <a:ext cx="3310128" cy="1773936"/>
          </a:xfrm>
          <a:prstGeom prst="rect">
            <a:avLst/>
          </a:prstGeom>
          <a:solidFill>
            <a:srgbClr val="FFF8E7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29" name="Shape 26"/>
          <p:cNvSpPr/>
          <p:nvPr/>
        </p:nvSpPr>
        <p:spPr>
          <a:xfrm>
            <a:off x="5577840" y="3145536"/>
            <a:ext cx="45720" cy="1773936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724144" y="3218688"/>
            <a:ext cx="29992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B45309"/>
                </a:solidFill>
              </a:rPr>
              <a:t>Physical Interpretation</a:t>
            </a:r>
            <a:endParaRPr lang="en-US" sz="1150" dirty="0"/>
          </a:p>
        </p:txBody>
      </p:sp>
      <p:sp>
        <p:nvSpPr>
          <p:cNvPr id="31" name="Text 28"/>
          <p:cNvSpPr/>
          <p:nvPr/>
        </p:nvSpPr>
        <p:spPr>
          <a:xfrm>
            <a:off x="5724144" y="3547872"/>
            <a:ext cx="299923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</a:rPr>
              <a:t>ADXL345 noise floor (±16 g, 32 LSB/g): 0.031 g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</a:rPr>
              <a:t>Minimum centroid separation: 1.328 g</a:t>
            </a:r>
            <a:endParaRPr lang="en-US" sz="1050" dirty="0"/>
          </a:p>
        </p:txBody>
      </p:sp>
      <p:sp>
        <p:nvSpPr>
          <p:cNvPr id="32" name="Text 29"/>
          <p:cNvSpPr/>
          <p:nvPr/>
        </p:nvSpPr>
        <p:spPr>
          <a:xfrm>
            <a:off x="5724144" y="4096512"/>
            <a:ext cx="29992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057"/>
                </a:solidFill>
              </a:rPr>
              <a:t>Separation ratio: 43× noise floor</a:t>
            </a:r>
            <a:endParaRPr lang="en-US" sz="1400" dirty="0"/>
          </a:p>
        </p:txBody>
      </p:sp>
      <p:sp>
        <p:nvSpPr>
          <p:cNvPr id="33" name="Text 30"/>
          <p:cNvSpPr/>
          <p:nvPr/>
        </p:nvSpPr>
        <p:spPr>
          <a:xfrm>
            <a:off x="5724144" y="4462272"/>
            <a:ext cx="299923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</a:rPr>
              <a:t>Under controlled quasi-static conditions, correct classification is physically predicted by the sensor geometry.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03057"/>
          </a:solidFill>
          <a:ln w="12700">
            <a:solidFill>
              <a:srgbClr val="0030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Result: Dominant-Axis Threshold Classifier — Hypothesis 3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621792"/>
            <a:ext cx="9144000" cy="50292"/>
          </a:xfrm>
          <a:prstGeom prst="rect">
            <a:avLst/>
          </a:prstGeom>
          <a:solidFill>
            <a:srgbClr val="C7A832"/>
          </a:solidFill>
          <a:ln w="12700">
            <a:solidFill>
              <a:srgbClr val="C7A832"/>
            </a:solidFill>
            <a:prstDash val="solid"/>
          </a:ln>
        </p:spPr>
      </p:sp>
      <p:pic>
        <p:nvPicPr>
          <p:cNvPr id="5" name="Image 0" descr="/home/claude/fig2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56032" y="768096"/>
            <a:ext cx="5394960" cy="354787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56032" y="4352544"/>
            <a:ext cx="5394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B7280"/>
                </a:solidFill>
              </a:rPr>
              <a:t>Fig. 1 — Raw ADXL345 time series (a_x, a_y, a_z, SMV) from firmware serial output at fₛ = 0.167 Hz. Dashed lines mark posture-dependent dominant-axis transitions. Labels: physics-based rule.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5833872" y="768096"/>
            <a:ext cx="3017520" cy="2414016"/>
          </a:xfrm>
          <a:prstGeom prst="rect">
            <a:avLst/>
          </a:prstGeom>
          <a:solidFill>
            <a:srgbClr val="F0FDF4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833872" y="768096"/>
            <a:ext cx="3017520" cy="45720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833872" y="768096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H3 — Result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833872" y="1280160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5803D"/>
                </a:solidFill>
              </a:rPr>
              <a:t>100.0%</a:t>
            </a:r>
            <a:endParaRPr lang="en-US" sz="4800" dirty="0"/>
          </a:p>
        </p:txBody>
      </p:sp>
      <p:sp>
        <p:nvSpPr>
          <p:cNvPr id="11" name="Text 8"/>
          <p:cNvSpPr/>
          <p:nvPr/>
        </p:nvSpPr>
        <p:spPr>
          <a:xfrm>
            <a:off x="5833872" y="2121408"/>
            <a:ext cx="3017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74151"/>
                </a:solidFill>
              </a:rPr>
              <a:t>330 / 330 correctly classified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374151"/>
                </a:solidFill>
              </a:rPr>
              <a:t>0 ambiguous samples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5961888" y="3236976"/>
            <a:ext cx="2798064" cy="402336"/>
          </a:xfrm>
          <a:prstGeom prst="roundRect">
            <a:avLst>
              <a:gd name="adj" fmla="val 15909"/>
            </a:avLst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961888" y="3236976"/>
            <a:ext cx="279806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Reject H₀ (H3) — Threshold Viable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5833872" y="3749040"/>
            <a:ext cx="3017520" cy="1133856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5961888" y="3794760"/>
            <a:ext cx="2816352" cy="1042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</a:rPr>
              <a:t>7-branch rule · No learned parameters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</a:rPr>
              <a:t>T = 0.5 g = 16× above noise floor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</a:rPr>
              <a:t>Embedded: ATmega328P compatible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</a:rPr>
              <a:t>KNN adds no benefit (see k sensitivity)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03057"/>
          </a:solidFill>
          <a:ln w="12700">
            <a:solidFill>
              <a:srgbClr val="0030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Result: KNN Classifier — Hypotheses 1 and 2  (k=5, Stratified 5-Fold CV)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621792"/>
            <a:ext cx="9144000" cy="50292"/>
          </a:xfrm>
          <a:prstGeom prst="rect">
            <a:avLst/>
          </a:prstGeom>
          <a:solidFill>
            <a:srgbClr val="C7A832"/>
          </a:solidFill>
          <a:ln w="12700">
            <a:solidFill>
              <a:srgbClr val="C7A832"/>
            </a:solidFill>
            <a:prstDash val="solid"/>
          </a:ln>
        </p:spPr>
      </p:sp>
      <p:pic>
        <p:nvPicPr>
          <p:cNvPr id="5" name="Image 0" descr="/home/claude/fig4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56032" y="768096"/>
            <a:ext cx="4133088" cy="323697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56032" y="4041648"/>
            <a:ext cx="413308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B7280"/>
                </a:solidFill>
              </a:rPr>
              <a:t>Fig. 2 — Aggregated confusion matrix (5 CV folds). All 330 samples on the principal diagonal; FP = FN = 0 for all posture classes.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4572000" y="768096"/>
            <a:ext cx="4297680" cy="1609344"/>
          </a:xfrm>
          <a:prstGeom prst="rect">
            <a:avLst/>
          </a:prstGeom>
          <a:solidFill>
            <a:srgbClr val="F0FDF4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4718304" y="822960"/>
            <a:ext cx="398678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3057"/>
                </a:solidFill>
              </a:rPr>
              <a:t>5-Fold Stratified CV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718304" y="1225296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</a:rPr>
              <a:t>Overall accuracy: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6839712" y="1225296"/>
            <a:ext cx="19751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5803D"/>
                </a:solidFill>
              </a:rPr>
              <a:t>1.0000 (100.0%)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4718304" y="1545336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</a:rPr>
              <a:t>Cohen’s κ: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6839712" y="1545336"/>
            <a:ext cx="19751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5803D"/>
                </a:solidFill>
              </a:rPr>
              <a:t>1.0000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4718304" y="1865376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</a:rPr>
              <a:t>CV std deviation: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6839712" y="1865376"/>
            <a:ext cx="19751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5803D"/>
                </a:solidFill>
              </a:rPr>
              <a:t>σ = 0.000 (no overfitting)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4663440" y="2450592"/>
            <a:ext cx="4114800" cy="384048"/>
          </a:xfrm>
          <a:prstGeom prst="roundRect">
            <a:avLst>
              <a:gd name="adj" fmla="val 16667"/>
            </a:avLst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663440" y="2450592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Reject H₀ (H1) — Accuracy + κ Both Satisfied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4572000" y="2944368"/>
            <a:ext cx="4297680" cy="1975104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4718304" y="2999232"/>
            <a:ext cx="398678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3057"/>
                </a:solidFill>
              </a:rPr>
              <a:t>Per-Class Sensitivity (H2)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4572000" y="3383280"/>
            <a:ext cx="91440" cy="320040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736592" y="3401568"/>
            <a:ext cx="16093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Supine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6364224" y="3401568"/>
            <a:ext cx="676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803D"/>
                </a:solidFill>
              </a:rPr>
              <a:t>1.000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7077456" y="3419856"/>
            <a:ext cx="1737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D28D9"/>
                </a:solidFill>
              </a:rPr>
              <a:t>Clinical priority: FN=0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4572000" y="3730752"/>
            <a:ext cx="91440" cy="320040"/>
          </a:xfrm>
          <a:prstGeom prst="rect">
            <a:avLst/>
          </a:prstGeom>
          <a:solidFill>
            <a:srgbClr val="ED7D31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736592" y="3749040"/>
            <a:ext cx="16093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Prone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6364224" y="3749040"/>
            <a:ext cx="676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803D"/>
                </a:solidFill>
              </a:rPr>
              <a:t>1.000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4572000" y="4078224"/>
            <a:ext cx="91440" cy="32004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736592" y="4096512"/>
            <a:ext cx="16093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Left lateral</a:t>
            </a:r>
            <a:endParaRPr lang="en-US" sz="1050" dirty="0"/>
          </a:p>
        </p:txBody>
      </p:sp>
      <p:sp>
        <p:nvSpPr>
          <p:cNvPr id="28" name="Text 25"/>
          <p:cNvSpPr/>
          <p:nvPr/>
        </p:nvSpPr>
        <p:spPr>
          <a:xfrm>
            <a:off x="6364224" y="4096512"/>
            <a:ext cx="676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803D"/>
                </a:solidFill>
              </a:rPr>
              <a:t>1.000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0" y="4425696"/>
            <a:ext cx="91440" cy="32004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4736592" y="4443984"/>
            <a:ext cx="16093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Right lateral</a:t>
            </a:r>
            <a:endParaRPr lang="en-US" sz="1050" dirty="0"/>
          </a:p>
        </p:txBody>
      </p:sp>
      <p:sp>
        <p:nvSpPr>
          <p:cNvPr id="31" name="Text 28"/>
          <p:cNvSpPr/>
          <p:nvPr/>
        </p:nvSpPr>
        <p:spPr>
          <a:xfrm>
            <a:off x="6364224" y="4443984"/>
            <a:ext cx="676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803D"/>
                </a:solidFill>
              </a:rPr>
              <a:t>1.000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4663440" y="4828032"/>
            <a:ext cx="4114800" cy="384048"/>
          </a:xfrm>
          <a:prstGeom prst="roundRect">
            <a:avLst>
              <a:gd name="adj" fmla="val 16667"/>
            </a:avLst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4663440" y="4828032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Reject H₀ (H2) — All Recall ≥ 0.90; Supine FN = 0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03057"/>
          </a:solidFill>
          <a:ln w="12700">
            <a:solidFill>
              <a:srgbClr val="0030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Result: Complete Per-Class Performance Metrics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621792"/>
            <a:ext cx="9144000" cy="50292"/>
          </a:xfrm>
          <a:prstGeom prst="rect">
            <a:avLst/>
          </a:prstGeom>
          <a:solidFill>
            <a:srgbClr val="C7A832"/>
          </a:solidFill>
          <a:ln w="12700">
            <a:solidFill>
              <a:srgbClr val="C7A832"/>
            </a:solidFill>
            <a:prstDash val="solid"/>
          </a:ln>
        </p:spPr>
      </p:sp>
      <p:pic>
        <p:nvPicPr>
          <p:cNvPr id="5" name="Image 0" descr="/home/claude/fig5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56032" y="768096"/>
            <a:ext cx="5989320" cy="360273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56032" y="4407408"/>
            <a:ext cx="5989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B7280"/>
                </a:solidFill>
              </a:rPr>
              <a:t>Fig. 3 — Precision, recall, specificity, and F1 per posture class. Red dashed: H1/H2 threshold (0.90). Derived from TP/FP/FN/TN across 5-fold CV aggregated confusion matrix.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6446520" y="768096"/>
            <a:ext cx="242316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583680" y="822960"/>
            <a:ext cx="217627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3057"/>
                </a:solidFill>
              </a:rPr>
              <a:t>Why Per-Class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03057"/>
                </a:solidFill>
              </a:rPr>
              <a:t>Metrics Matter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583680" y="1389888"/>
            <a:ext cx="2176272" cy="19751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</a:rPr>
              <a:t>Imbalance: prone/supine = 1.81×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</a:rPr>
              <a:t>Overall accuracy can mask poor per-class performance. A naive ‘predict prone always’ classifier achieves 31.2% overall while missing supine entirely.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</a:rPr>
              <a:t>Supine (N=57, 17.3%) is the critical clinical class.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6446520" y="3529584"/>
            <a:ext cx="2423160" cy="1353312"/>
          </a:xfrm>
          <a:prstGeom prst="rect">
            <a:avLst/>
          </a:prstGeom>
          <a:solidFill>
            <a:srgbClr val="F0FDF4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6583680" y="3584448"/>
            <a:ext cx="2176272" cy="12435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5803D"/>
                </a:solidFill>
              </a:rPr>
              <a:t>All metrics = 1.000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15803D"/>
                </a:solidFill>
              </a:rPr>
              <a:t>for all 4 postures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15803D"/>
                </a:solidFill>
              </a:rPr>
              <a:t>FP = FN = 0 universally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03057"/>
          </a:solidFill>
          <a:ln w="12700">
            <a:solidFill>
              <a:srgbClr val="0030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Result: Signal Magnitude Vector — One-Way ANOVA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621792"/>
            <a:ext cx="9144000" cy="50292"/>
          </a:xfrm>
          <a:prstGeom prst="rect">
            <a:avLst/>
          </a:prstGeom>
          <a:solidFill>
            <a:srgbClr val="C7A832"/>
          </a:solidFill>
          <a:ln w="12700">
            <a:solidFill>
              <a:srgbClr val="C7A832"/>
            </a:solidFill>
            <a:prstDash val="solid"/>
          </a:ln>
        </p:spPr>
      </p:sp>
      <p:pic>
        <p:nvPicPr>
          <p:cNvPr id="5" name="Image 0" descr="/home/claude/fig7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56032" y="768096"/>
            <a:ext cx="5303520" cy="360273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56032" y="4407408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B7280"/>
                </a:solidFill>
              </a:rPr>
              <a:t>Fig. 4 — SMV distributions per posture (one-way ANOVA, sum-of-squares decomposition, no external libraries). Dashed line: theoretical gravity baseline (1.000 g).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5742432" y="768096"/>
            <a:ext cx="3108960" cy="2157984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5888736" y="822960"/>
            <a:ext cx="277977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3057"/>
                </a:solidFill>
              </a:rPr>
              <a:t>ANOVA Decomposition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888736" y="1225296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</a:rPr>
              <a:t>F(3, 326):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7406640" y="1225296"/>
            <a:ext cx="13167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3057"/>
                </a:solidFill>
              </a:rPr>
              <a:t>184.52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5888736" y="1527048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</a:rPr>
              <a:t>p-value: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7406640" y="1527048"/>
            <a:ext cx="13167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3057"/>
                </a:solidFill>
              </a:rPr>
              <a:t>6.3 × 10⁻⁷⁰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5888736" y="1828800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</a:rPr>
              <a:t>SS between: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7406640" y="1828800"/>
            <a:ext cx="13167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3057"/>
                </a:solidFill>
              </a:rPr>
              <a:t>0.1420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5888736" y="2130552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</a:rPr>
              <a:t>SS within: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7406640" y="2130552"/>
            <a:ext cx="13167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3057"/>
                </a:solidFill>
              </a:rPr>
              <a:t>0.0836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5888736" y="2432304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</a:rPr>
              <a:t>Decision (α=0.05):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7406640" y="2432304"/>
            <a:ext cx="13167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5803D"/>
                </a:solidFill>
              </a:rPr>
              <a:t>Reject H₀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5742432" y="3017520"/>
            <a:ext cx="3108960" cy="1316736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5888736" y="3072384"/>
            <a:ext cx="27797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3057"/>
                </a:solidFill>
              </a:rPr>
              <a:t>Mean SMV per Posture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5742432" y="3419856"/>
            <a:ext cx="73152" cy="201168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870448" y="3419856"/>
            <a:ext cx="11704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</a:rPr>
              <a:t>Supine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7059168" y="3419856"/>
            <a:ext cx="17190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5803D"/>
                </a:solidFill>
              </a:rPr>
              <a:t>1.032 ± 0.007 g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5742432" y="3648456"/>
            <a:ext cx="73152" cy="201168"/>
          </a:xfrm>
          <a:prstGeom prst="rect">
            <a:avLst/>
          </a:prstGeom>
          <a:solidFill>
            <a:srgbClr val="ED7D31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870448" y="3648456"/>
            <a:ext cx="11704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</a:rPr>
              <a:t>Prone</a:t>
            </a:r>
            <a:endParaRPr lang="en-US" sz="950" dirty="0"/>
          </a:p>
        </p:txBody>
      </p:sp>
      <p:sp>
        <p:nvSpPr>
          <p:cNvPr id="26" name="Text 23"/>
          <p:cNvSpPr/>
          <p:nvPr/>
        </p:nvSpPr>
        <p:spPr>
          <a:xfrm>
            <a:off x="7059168" y="3648456"/>
            <a:ext cx="17190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</a:rPr>
              <a:t>0.995 ± 0.013 g</a:t>
            </a:r>
            <a:endParaRPr lang="en-US" sz="950" dirty="0"/>
          </a:p>
        </p:txBody>
      </p:sp>
      <p:sp>
        <p:nvSpPr>
          <p:cNvPr id="27" name="Shape 24"/>
          <p:cNvSpPr/>
          <p:nvPr/>
        </p:nvSpPr>
        <p:spPr>
          <a:xfrm>
            <a:off x="5742432" y="3877056"/>
            <a:ext cx="73152" cy="201168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870448" y="3877056"/>
            <a:ext cx="11704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</a:rPr>
              <a:t>Left lat.</a:t>
            </a:r>
            <a:endParaRPr lang="en-US" sz="950" dirty="0"/>
          </a:p>
        </p:txBody>
      </p:sp>
      <p:sp>
        <p:nvSpPr>
          <p:cNvPr id="29" name="Text 26"/>
          <p:cNvSpPr/>
          <p:nvPr/>
        </p:nvSpPr>
        <p:spPr>
          <a:xfrm>
            <a:off x="7059168" y="3877056"/>
            <a:ext cx="17190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</a:rPr>
              <a:t>1.004 ± 0.006 g</a:t>
            </a:r>
            <a:endParaRPr lang="en-US" sz="950" dirty="0"/>
          </a:p>
        </p:txBody>
      </p:sp>
      <p:sp>
        <p:nvSpPr>
          <p:cNvPr id="30" name="Shape 27"/>
          <p:cNvSpPr/>
          <p:nvPr/>
        </p:nvSpPr>
        <p:spPr>
          <a:xfrm>
            <a:off x="5742432" y="4105656"/>
            <a:ext cx="73152" cy="20116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5870448" y="4105656"/>
            <a:ext cx="11704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</a:rPr>
              <a:t>Right lat.</a:t>
            </a:r>
            <a:endParaRPr lang="en-US" sz="950" dirty="0"/>
          </a:p>
        </p:txBody>
      </p:sp>
      <p:sp>
        <p:nvSpPr>
          <p:cNvPr id="32" name="Text 29"/>
          <p:cNvSpPr/>
          <p:nvPr/>
        </p:nvSpPr>
        <p:spPr>
          <a:xfrm>
            <a:off x="7059168" y="4105656"/>
            <a:ext cx="17190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91C1C"/>
                </a:solidFill>
              </a:rPr>
              <a:t>0.967 ± 0.029 g</a:t>
            </a:r>
            <a:endParaRPr lang="en-US" sz="950" dirty="0"/>
          </a:p>
        </p:txBody>
      </p:sp>
      <p:sp>
        <p:nvSpPr>
          <p:cNvPr id="33" name="Shape 30"/>
          <p:cNvSpPr/>
          <p:nvPr/>
        </p:nvSpPr>
        <p:spPr>
          <a:xfrm>
            <a:off x="5742432" y="4425696"/>
            <a:ext cx="3108960" cy="493776"/>
          </a:xfrm>
          <a:prstGeom prst="rect">
            <a:avLst/>
          </a:prstGeom>
          <a:solidFill>
            <a:srgbClr val="FEF3C7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5742432" y="4425696"/>
            <a:ext cx="45720" cy="493776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5888736" y="4453128"/>
            <a:ext cx="2834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8350F"/>
                </a:solidFill>
              </a:rPr>
              <a:t>Physical basis [6]: supine → greater diaphragmatic excursion → SMV elevated. Effect size ΔSMV = 0.065 g = 2.1× noise floor.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03057"/>
          </a:solidFill>
          <a:ln w="12700">
            <a:solidFill>
              <a:srgbClr val="0030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Discussion: Interpretation, Scope, and Experimental Design Limitations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621792"/>
            <a:ext cx="9144000" cy="50292"/>
          </a:xfrm>
          <a:prstGeom prst="rect">
            <a:avLst/>
          </a:prstGeom>
          <a:solidFill>
            <a:srgbClr val="C7A832"/>
          </a:solidFill>
          <a:ln w="12700">
            <a:solidFill>
              <a:srgbClr val="C7A83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56032" y="768096"/>
            <a:ext cx="2816352" cy="2816352"/>
          </a:xfrm>
          <a:prstGeom prst="rect">
            <a:avLst/>
          </a:prstGeom>
          <a:solidFill>
            <a:srgbClr val="EBF5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56032" y="768096"/>
            <a:ext cx="2816352" cy="438912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56032" y="768096"/>
            <a:ext cx="281635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Observations (What Data Show)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47472" y="1271016"/>
            <a:ext cx="265176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1A1A2E"/>
                </a:solidFill>
              </a:rPr>
              <a:t>• 330 static samples from N=1 correctly classified by both approaches</a:t>
            </a:r>
            <a:endParaRPr lang="en-US" sz="980" dirty="0"/>
          </a:p>
        </p:txBody>
      </p:sp>
      <p:sp>
        <p:nvSpPr>
          <p:cNvPr id="9" name="Text 7"/>
          <p:cNvSpPr/>
          <p:nvPr/>
        </p:nvSpPr>
        <p:spPr>
          <a:xfrm>
            <a:off x="347472" y="1801368"/>
            <a:ext cx="265176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1A1A2E"/>
                </a:solidFill>
              </a:rPr>
              <a:t>• Centroid distances: 1.33–2.02 g (43–65× ADXL345 noise floor)</a:t>
            </a:r>
            <a:endParaRPr lang="en-US" sz="980" dirty="0"/>
          </a:p>
        </p:txBody>
      </p:sp>
      <p:sp>
        <p:nvSpPr>
          <p:cNvPr id="10" name="Text 8"/>
          <p:cNvSpPr/>
          <p:nvPr/>
        </p:nvSpPr>
        <p:spPr>
          <a:xfrm>
            <a:off x="347472" y="2331720"/>
            <a:ext cx="265176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1A1A2E"/>
                </a:solidFill>
              </a:rPr>
              <a:t>• SMV ANOVA: F(3,326)=184.52, p=6.3×10⁻⁷⁰ — posture-dependent respiratory motion confirmed</a:t>
            </a:r>
            <a:endParaRPr lang="en-US" sz="980" dirty="0"/>
          </a:p>
        </p:txBody>
      </p:sp>
      <p:sp>
        <p:nvSpPr>
          <p:cNvPr id="11" name="Text 9"/>
          <p:cNvSpPr/>
          <p:nvPr/>
        </p:nvSpPr>
        <p:spPr>
          <a:xfrm>
            <a:off x="347472" y="2862072"/>
            <a:ext cx="265176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1A1A2E"/>
                </a:solidFill>
              </a:rPr>
              <a:t>• Effect size: ΔSMV = 0.065 g = 2.1× noise floor (significant; modest practical magnitude)</a:t>
            </a:r>
            <a:endParaRPr lang="en-US" sz="980" dirty="0"/>
          </a:p>
        </p:txBody>
      </p:sp>
      <p:sp>
        <p:nvSpPr>
          <p:cNvPr id="12" name="Shape 10"/>
          <p:cNvSpPr/>
          <p:nvPr/>
        </p:nvSpPr>
        <p:spPr>
          <a:xfrm>
            <a:off x="3136392" y="768096"/>
            <a:ext cx="2816352" cy="2816352"/>
          </a:xfrm>
          <a:prstGeom prst="rect">
            <a:avLst/>
          </a:prstGeom>
          <a:solidFill>
            <a:srgbClr val="F0FDF4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136392" y="768096"/>
            <a:ext cx="2816352" cy="438912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136392" y="768096"/>
            <a:ext cx="281635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Physical Inference (Mechanism)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227832" y="1271016"/>
            <a:ext cx="265176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1A1A2E"/>
                </a:solidFill>
              </a:rPr>
              <a:t>• Gravitational geometry predicts classification: gravity uniquely constrains each posture to a dominant accelerometer axis</a:t>
            </a:r>
            <a:endParaRPr lang="en-US" sz="980" dirty="0"/>
          </a:p>
        </p:txBody>
      </p:sp>
      <p:sp>
        <p:nvSpPr>
          <p:cNvPr id="16" name="Text 14"/>
          <p:cNvSpPr/>
          <p:nvPr/>
        </p:nvSpPr>
        <p:spPr>
          <a:xfrm>
            <a:off x="3227832" y="1801368"/>
            <a:ext cx="265176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1A1A2E"/>
                </a:solidFill>
              </a:rPr>
              <a:t>• Threshold rule exploits structural physics, not statistical regularities</a:t>
            </a:r>
            <a:endParaRPr lang="en-US" sz="980" dirty="0"/>
          </a:p>
        </p:txBody>
      </p:sp>
      <p:sp>
        <p:nvSpPr>
          <p:cNvPr id="17" name="Text 15"/>
          <p:cNvSpPr/>
          <p:nvPr/>
        </p:nvSpPr>
        <p:spPr>
          <a:xfrm>
            <a:off x="3227832" y="2331720"/>
            <a:ext cx="265176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1A1A2E"/>
                </a:solidFill>
              </a:rPr>
              <a:t>• 43× noise margin renders class overlap geometrically implausible under quasi-static conditions</a:t>
            </a:r>
            <a:endParaRPr lang="en-US" sz="980" dirty="0"/>
          </a:p>
        </p:txBody>
      </p:sp>
      <p:sp>
        <p:nvSpPr>
          <p:cNvPr id="18" name="Text 16"/>
          <p:cNvSpPr/>
          <p:nvPr/>
        </p:nvSpPr>
        <p:spPr>
          <a:xfrm>
            <a:off x="3227832" y="2862072"/>
            <a:ext cx="265176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1A1A2E"/>
                </a:solidFill>
              </a:rPr>
              <a:t>• SMV encodes respiratory excursion intensity in addition to posture identity</a:t>
            </a:r>
            <a:endParaRPr lang="en-US" sz="980" dirty="0"/>
          </a:p>
        </p:txBody>
      </p:sp>
      <p:sp>
        <p:nvSpPr>
          <p:cNvPr id="19" name="Shape 17"/>
          <p:cNvSpPr/>
          <p:nvPr/>
        </p:nvSpPr>
        <p:spPr>
          <a:xfrm>
            <a:off x="6016752" y="768096"/>
            <a:ext cx="2816352" cy="2816352"/>
          </a:xfrm>
          <a:prstGeom prst="rect">
            <a:avLst/>
          </a:prstGeom>
          <a:solidFill>
            <a:srgbClr val="FFF1F1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016752" y="768096"/>
            <a:ext cx="2816352" cy="438912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016752" y="768096"/>
            <a:ext cx="281635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Scope Boundary (Critical Caveat)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108192" y="1271016"/>
            <a:ext cx="265176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1A1A2E"/>
                </a:solidFill>
              </a:rPr>
              <a:t>• Results scoped to N=1, controlled static conditions only</a:t>
            </a:r>
            <a:endParaRPr lang="en-US" sz="980" dirty="0"/>
          </a:p>
        </p:txBody>
      </p:sp>
      <p:sp>
        <p:nvSpPr>
          <p:cNvPr id="23" name="Text 21"/>
          <p:cNvSpPr/>
          <p:nvPr/>
        </p:nvSpPr>
        <p:spPr>
          <a:xfrm>
            <a:off x="6108192" y="1801368"/>
            <a:ext cx="265176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1A1A2E"/>
                </a:solidFill>
              </a:rPr>
              <a:t>• 100.0% accuracy is an upper performance bound, not a deployment specification</a:t>
            </a:r>
            <a:endParaRPr lang="en-US" sz="980" dirty="0"/>
          </a:p>
        </p:txBody>
      </p:sp>
      <p:sp>
        <p:nvSpPr>
          <p:cNvPr id="24" name="Text 22"/>
          <p:cNvSpPr/>
          <p:nvPr/>
        </p:nvSpPr>
        <p:spPr>
          <a:xfrm>
            <a:off x="6108192" y="2331720"/>
            <a:ext cx="265176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1A1A2E"/>
                </a:solidFill>
              </a:rPr>
              <a:t>• Expected free-living performance: 86–94% [2,8]</a:t>
            </a:r>
            <a:endParaRPr lang="en-US" sz="980" dirty="0"/>
          </a:p>
        </p:txBody>
      </p:sp>
      <p:sp>
        <p:nvSpPr>
          <p:cNvPr id="25" name="Text 23"/>
          <p:cNvSpPr/>
          <p:nvPr/>
        </p:nvSpPr>
        <p:spPr>
          <a:xfrm>
            <a:off x="6108192" y="2862072"/>
            <a:ext cx="265176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1A1A2E"/>
                </a:solidFill>
              </a:rPr>
              <a:t>• Generalisation requires independent multi-subject overnight validation (N ≥ 5)</a:t>
            </a:r>
            <a:endParaRPr lang="en-US" sz="980" dirty="0"/>
          </a:p>
        </p:txBody>
      </p:sp>
      <p:sp>
        <p:nvSpPr>
          <p:cNvPr id="26" name="Shape 24"/>
          <p:cNvSpPr/>
          <p:nvPr/>
        </p:nvSpPr>
        <p:spPr>
          <a:xfrm>
            <a:off x="256032" y="3712464"/>
            <a:ext cx="8613648" cy="1207008"/>
          </a:xfrm>
          <a:prstGeom prst="rect">
            <a:avLst/>
          </a:prstGeom>
          <a:solidFill>
            <a:srgbClr val="FFFBEB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256032" y="3712464"/>
            <a:ext cx="45720" cy="1207008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02336" y="3749040"/>
            <a:ext cx="8321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</a:rPr>
              <a:t>Experimental Design Limitations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02336" y="4096512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</a:rPr>
              <a:t>1.  Activity interrupt threshold (setActivityThreshold(75) = 4.69 g) is 4.5× the maximum observed SMV — ISR never activated; replaced by delay(6000) polling.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02336" y="4407408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</a:rPr>
              <a:t>2.  k sensitivity (k = 1–11) yielded invariant accuracy — KNN provides no classification benefit over the threshold rule for this geometrically separable dataset.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03057"/>
          </a:solidFill>
          <a:ln w="12700">
            <a:solidFill>
              <a:srgbClr val="0030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Contextualisation: Comparison to Commercial Sleep Monitoring Devices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621792"/>
            <a:ext cx="9144000" cy="50292"/>
          </a:xfrm>
          <a:prstGeom prst="rect">
            <a:avLst/>
          </a:prstGeom>
          <a:solidFill>
            <a:srgbClr val="C7A832"/>
          </a:solidFill>
          <a:ln w="12700">
            <a:solidFill>
              <a:srgbClr val="C7A83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56032" y="768096"/>
            <a:ext cx="8869680" cy="420624"/>
          </a:xfrm>
          <a:prstGeom prst="rect">
            <a:avLst/>
          </a:prstGeom>
          <a:solidFill>
            <a:srgbClr val="003057"/>
          </a:solidFill>
          <a:ln w="12700">
            <a:solidFill>
              <a:srgbClr val="00305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01752" y="768096"/>
            <a:ext cx="16916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Feature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2103120" y="768096"/>
            <a:ext cx="16916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PostureSense (This Work)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3904488" y="768096"/>
            <a:ext cx="16916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Withings Sleep Analyzer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705856" y="768096"/>
            <a:ext cx="16916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Garmin Vivosmart 5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7507224" y="768096"/>
            <a:ext cx="157276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ResMed S+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56032" y="1188720"/>
            <a:ext cx="8869680" cy="429768"/>
          </a:xfrm>
          <a:prstGeom prst="rect">
            <a:avLst/>
          </a:prstGeom>
          <a:solidFill>
            <a:srgbClr val="F4F7FB"/>
          </a:solidFill>
          <a:ln w="12700">
            <a:solidFill>
              <a:srgbClr val="DDE3E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01752" y="1261872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</a:rPr>
              <a:t>Company / Year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103120" y="1261872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</a:rPr>
              <a:t>NAU Research, 2026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904488" y="1261872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</a:rPr>
              <a:t>France, est. 1998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705856" y="1261872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</a:rPr>
              <a:t>Switzerland, est. 1989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507224" y="1261872"/>
            <a:ext cx="15727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</a:rPr>
              <a:t>USA, est. 1989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56032" y="1636776"/>
            <a:ext cx="8869680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01752" y="1709928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</a:rPr>
              <a:t>Sensing modality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103120" y="1709928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</a:rPr>
              <a:t>Chest accelerometer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904488" y="1709928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</a:rPr>
              <a:t>Pressure mat (BCG)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705856" y="1709928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</a:rPr>
              <a:t>Wrist accel + HR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507224" y="1709928"/>
            <a:ext cx="15727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</a:rPr>
              <a:t>Bedside radar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56032" y="2084832"/>
            <a:ext cx="8869680" cy="429768"/>
          </a:xfrm>
          <a:prstGeom prst="rect">
            <a:avLst/>
          </a:prstGeom>
          <a:solidFill>
            <a:srgbClr val="F4F7FB"/>
          </a:solidFill>
          <a:ln w="12700">
            <a:solidFill>
              <a:srgbClr val="DDE3E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01752" y="2157984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</a:rPr>
              <a:t>Explicit posture output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2103120" y="2157984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5803D"/>
                </a:solidFill>
              </a:rPr>
              <a:t>✓ Yes — 4 labelled classes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904488" y="2157984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91C1C"/>
                </a:solidFill>
              </a:rPr>
              <a:t>✗ None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705856" y="2157984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91C1C"/>
                </a:solidFill>
              </a:rPr>
              <a:t>✗ None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507224" y="2157984"/>
            <a:ext cx="15727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91C1C"/>
                </a:solidFill>
              </a:rPr>
              <a:t>✗ None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256032" y="2532888"/>
            <a:ext cx="8869680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01752" y="2606040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</a:rPr>
              <a:t>Component cost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2103120" y="2606040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5803D"/>
                </a:solidFill>
              </a:rPr>
              <a:t>~$30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3904488" y="2606040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91C1C"/>
                </a:solidFill>
              </a:rPr>
              <a:t>~$130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705856" y="2606040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91C1C"/>
                </a:solidFill>
              </a:rPr>
              <a:t>~$150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7507224" y="2606040"/>
            <a:ext cx="15727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91C1C"/>
                </a:solidFill>
              </a:rPr>
              <a:t>~$150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256032" y="2980944"/>
            <a:ext cx="8869680" cy="429768"/>
          </a:xfrm>
          <a:prstGeom prst="rect">
            <a:avLst/>
          </a:prstGeom>
          <a:solidFill>
            <a:srgbClr val="F4F7FB"/>
          </a:solidFill>
          <a:ln w="12700">
            <a:solidFill>
              <a:srgbClr val="DDE3E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01752" y="3054096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</a:rPr>
              <a:t>Firmware / source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2103120" y="3054096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5803D"/>
                </a:solidFill>
              </a:rPr>
              <a:t>Open-source (GitHub)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3904488" y="3054096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91C1C"/>
                </a:solidFill>
              </a:rPr>
              <a:t>Proprietary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5705856" y="3054096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91C1C"/>
                </a:solidFill>
              </a:rPr>
              <a:t>Proprietary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7507224" y="3054096"/>
            <a:ext cx="15727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91C1C"/>
                </a:solidFill>
              </a:rPr>
              <a:t>Proprietary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256032" y="3429000"/>
            <a:ext cx="8869680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01752" y="3502152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</a:rPr>
              <a:t>Data storage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2103120" y="3502152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5803D"/>
                </a:solidFill>
              </a:rPr>
              <a:t>Local CSV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3904488" y="3502152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91C1C"/>
                </a:solidFill>
              </a:rPr>
              <a:t>Cloud (opt-in)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5705856" y="3502152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91C1C"/>
                </a:solidFill>
              </a:rPr>
              <a:t>Cloud (Garmin Connect)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7507224" y="3502152"/>
            <a:ext cx="15727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91C1C"/>
                </a:solidFill>
              </a:rPr>
              <a:t>Cloud (required)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256032" y="3877056"/>
            <a:ext cx="8869680" cy="429768"/>
          </a:xfrm>
          <a:prstGeom prst="rect">
            <a:avLst/>
          </a:prstGeom>
          <a:solidFill>
            <a:srgbClr val="F4F7FB"/>
          </a:solidFill>
          <a:ln w="12700">
            <a:solidFill>
              <a:srgbClr val="DDE3E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01752" y="3950208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</a:rPr>
              <a:t>OSA posture flag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2103120" y="3950208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5803D"/>
                </a:solidFill>
              </a:rPr>
              <a:t>Supine recall = 1.000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3904488" y="3950208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</a:rPr>
              <a:t>Indirect via HR/SpO₂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5705856" y="3950208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</a:rPr>
              <a:t>Via sleep score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7507224" y="3950208"/>
            <a:ext cx="15727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</a:rPr>
              <a:t>Via breathing rate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256032" y="4325112"/>
            <a:ext cx="8869680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01752" y="4398264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</a:rPr>
              <a:t>Multi-subject validated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2103120" y="4398264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91C1C"/>
                </a:solidFill>
              </a:rPr>
              <a:t>No (pilot only)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3904488" y="4398264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</a:rPr>
              <a:t>Yes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5705856" y="4398264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</a:rPr>
              <a:t>Yes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7507224" y="4398264"/>
            <a:ext cx="15727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</a:rPr>
              <a:t>Yes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256032" y="4791456"/>
            <a:ext cx="8869680" cy="347472"/>
          </a:xfrm>
          <a:prstGeom prst="rect">
            <a:avLst/>
          </a:prstGeom>
          <a:solidFill>
            <a:srgbClr val="EBF5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60" name="Text 58"/>
          <p:cNvSpPr/>
          <p:nvPr/>
        </p:nvSpPr>
        <p:spPr>
          <a:xfrm>
            <a:off x="402336" y="4809744"/>
            <a:ext cx="85770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3057"/>
                </a:solidFill>
              </a:rPr>
              <a:t>PostureSense is the only evaluated system providing explicit, labelled lying-position output — directly addressing the positional OSA monitoring requirement.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03057"/>
          </a:solidFill>
          <a:ln w="12700">
            <a:solidFill>
              <a:srgbClr val="0030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Limitations and Threats to Validity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621792"/>
            <a:ext cx="9144000" cy="50292"/>
          </a:xfrm>
          <a:prstGeom prst="rect">
            <a:avLst/>
          </a:prstGeom>
          <a:solidFill>
            <a:srgbClr val="C7A832"/>
          </a:solidFill>
          <a:ln w="12700">
            <a:solidFill>
              <a:srgbClr val="C7A83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56032" y="768096"/>
            <a:ext cx="4261104" cy="2048256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56032" y="768096"/>
            <a:ext cx="4261104" cy="438912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56032" y="768096"/>
            <a:ext cx="426110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   Single Subject (N=1) — Selection Bias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1261872"/>
            <a:ext cx="4041648" cy="15179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Developer-as-participant: optimal placement and deliberate static holds inflate controlled accuracy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Expected free-living accuracy degradation: 5–12 pp [2] → estimated overnight range: 86–94%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Ground truth derived from sensor data — no independent reference (video/PSG)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00016" y="768096"/>
            <a:ext cx="4261104" cy="2048256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0016" y="768096"/>
            <a:ext cx="4261104" cy="438912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00016" y="768096"/>
            <a:ext cx="426110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   Controlled Static Protocol — No Transitions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809744" y="1261872"/>
            <a:ext cx="4041648" cy="15179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Dataset contains no posture transitions — primary anticipated source of overnight error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At fₛ = 0.167 Hz: each 5–15 s transition generates 1–2 misclassified samples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Instantaneous feature set violates quasi-static assumption during transitions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56032" y="2962656"/>
            <a:ext cx="4261104" cy="2048256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56032" y="2962656"/>
            <a:ext cx="4261104" cy="438912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6032" y="2962656"/>
            <a:ext cx="426110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   Sensor Configuration and Latency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65760" y="3456432"/>
            <a:ext cx="4041648" cy="15179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±16 g range → 32 LSB/g (sufficient for posture; ±2 g gives 8× finer resolution at no cost)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fₛ = 0.167 Hz → 6-second detection latency (acceptable for posture; inadequate for respiratory monitoring)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±2 g setting recommended for future iterations to improve SMV respiratory sensitivity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700016" y="2962656"/>
            <a:ext cx="4261104" cy="2048256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00016" y="2962656"/>
            <a:ext cx="4261104" cy="438912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00016" y="2962656"/>
            <a:ext cx="426110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   Overfitting and Generalisability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09744" y="3456432"/>
            <a:ext cx="4041648" cy="15179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Overfitting tested via 5-fold CV: σ = 0.000 — no overfitting detected in this dataset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Zero CV variance expected: 43× geometric separation renders fold composition irrelevant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Clinical generalisation requires independent multi-subject overnight evaluation (N ≥ 5)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56032" y="4828032"/>
            <a:ext cx="8613648" cy="347472"/>
          </a:xfrm>
          <a:prstGeom prst="rect">
            <a:avLst/>
          </a:prstGeom>
          <a:solidFill>
            <a:srgbClr val="FFF1F1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56032" y="4828032"/>
            <a:ext cx="45720" cy="347472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02336" y="4846320"/>
            <a:ext cx="8321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91C1C"/>
                </a:solidFill>
              </a:rPr>
              <a:t>5   Calibration: No external angular reference. A 5° placement deviation shifts baseline a_y by sin(5°) ≈ 0.09 g, reducing threshold margin from 0.50 g to 0.41 g.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03057"/>
          </a:solidFill>
          <a:ln w="12700">
            <a:solidFill>
              <a:srgbClr val="0030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Conclusions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621792"/>
            <a:ext cx="9144000" cy="50292"/>
          </a:xfrm>
          <a:prstGeom prst="rect">
            <a:avLst/>
          </a:prstGeom>
          <a:solidFill>
            <a:srgbClr val="C7A832"/>
          </a:solidFill>
          <a:ln w="12700">
            <a:solidFill>
              <a:srgbClr val="C7A83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56032" y="768096"/>
            <a:ext cx="5047488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02336" y="822960"/>
            <a:ext cx="470001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057"/>
                </a:solidFill>
              </a:rPr>
              <a:t>Hypothesis Outcomes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56032" y="1207008"/>
            <a:ext cx="5047488" cy="329184"/>
          </a:xfrm>
          <a:prstGeom prst="rect">
            <a:avLst/>
          </a:prstGeom>
          <a:solidFill>
            <a:srgbClr val="F4F7FB"/>
          </a:solidFill>
          <a:ln w="12700">
            <a:solidFill>
              <a:srgbClr val="DDE3E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9184" y="1252728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</a:rPr>
              <a:t>H3 threshold accuracy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2724912" y="1252728"/>
            <a:ext cx="1508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3057"/>
                </a:solidFill>
              </a:rPr>
              <a:t>100.0%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242816" y="1243584"/>
            <a:ext cx="950976" cy="237744"/>
          </a:xfrm>
          <a:prstGeom prst="roundRect">
            <a:avLst>
              <a:gd name="adj" fmla="val 23077"/>
            </a:avLst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42816" y="1243584"/>
            <a:ext cx="9509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Reject H₀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56032" y="1554480"/>
            <a:ext cx="5047488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9184" y="1600200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</a:rPr>
              <a:t>H1 KNN accuracy (5-fold CV)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2724912" y="1600200"/>
            <a:ext cx="1508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3057"/>
                </a:solidFill>
              </a:rPr>
              <a:t>100.0%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242816" y="1591056"/>
            <a:ext cx="950976" cy="237744"/>
          </a:xfrm>
          <a:prstGeom prst="roundRect">
            <a:avLst>
              <a:gd name="adj" fmla="val 23077"/>
            </a:avLst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42816" y="1591056"/>
            <a:ext cx="9509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Reject H₀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56032" y="1901952"/>
            <a:ext cx="5047488" cy="329184"/>
          </a:xfrm>
          <a:prstGeom prst="rect">
            <a:avLst/>
          </a:prstGeom>
          <a:solidFill>
            <a:srgbClr val="F4F7FB"/>
          </a:solidFill>
          <a:ln w="12700">
            <a:solidFill>
              <a:srgbClr val="DDE3E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9184" y="1947672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</a:rPr>
              <a:t>H1 Cohen’s κ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2724912" y="1947672"/>
            <a:ext cx="1508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3057"/>
                </a:solidFill>
              </a:rPr>
              <a:t>1.0000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242816" y="1938528"/>
            <a:ext cx="950976" cy="237744"/>
          </a:xfrm>
          <a:prstGeom prst="roundRect">
            <a:avLst>
              <a:gd name="adj" fmla="val 23077"/>
            </a:avLst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242816" y="1938528"/>
            <a:ext cx="9509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Reject H₀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56032" y="2249424"/>
            <a:ext cx="5047488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9184" y="2295144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</a:rPr>
              <a:t>H1/H2 CV std deviation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2724912" y="2295144"/>
            <a:ext cx="1508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3057"/>
                </a:solidFill>
              </a:rPr>
              <a:t>σ = 0.000 (no overfitting)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242816" y="2286000"/>
            <a:ext cx="950976" cy="237744"/>
          </a:xfrm>
          <a:prstGeom prst="roundRect">
            <a:avLst>
              <a:gd name="adj" fmla="val 23077"/>
            </a:avLst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242816" y="2286000"/>
            <a:ext cx="9509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Verified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256032" y="2596896"/>
            <a:ext cx="5047488" cy="329184"/>
          </a:xfrm>
          <a:prstGeom prst="rect">
            <a:avLst/>
          </a:prstGeom>
          <a:solidFill>
            <a:srgbClr val="F0FDF4"/>
          </a:solidFill>
          <a:ln w="12700">
            <a:solidFill>
              <a:srgbClr val="DDE3E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9184" y="2642616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</a:rPr>
              <a:t>H2 supine recall (clinical primary)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2724912" y="2642616"/>
            <a:ext cx="1508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5803D"/>
                </a:solidFill>
              </a:rPr>
              <a:t>1.000  — FN = 0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242816" y="2633472"/>
            <a:ext cx="950976" cy="237744"/>
          </a:xfrm>
          <a:prstGeom prst="roundRect">
            <a:avLst>
              <a:gd name="adj" fmla="val 23077"/>
            </a:avLst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242816" y="2633472"/>
            <a:ext cx="9509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Reject H₀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256032" y="2944368"/>
            <a:ext cx="5047488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9184" y="2990088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</a:rPr>
              <a:t>SMV ANOVA F(3,326)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2724912" y="2990088"/>
            <a:ext cx="1508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3057"/>
                </a:solidFill>
              </a:rPr>
              <a:t>184.52, p=6.3×10⁻⁷⁰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242816" y="2980944"/>
            <a:ext cx="950976" cy="237744"/>
          </a:xfrm>
          <a:prstGeom prst="roundRect">
            <a:avLst>
              <a:gd name="adj" fmla="val 23077"/>
            </a:avLst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242816" y="2980944"/>
            <a:ext cx="9509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Sig. (α=0.05)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256032" y="3291840"/>
            <a:ext cx="5047488" cy="329184"/>
          </a:xfrm>
          <a:prstGeom prst="rect">
            <a:avLst/>
          </a:prstGeom>
          <a:solidFill>
            <a:srgbClr val="F4F7FB"/>
          </a:solidFill>
          <a:ln w="12700">
            <a:solidFill>
              <a:srgbClr val="DDE3E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29184" y="3337560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</a:rPr>
              <a:t>Min. centroid separation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2724912" y="3337560"/>
            <a:ext cx="1508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3057"/>
                </a:solidFill>
              </a:rPr>
              <a:t>1.33 g = 43× noise floor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242816" y="3328416"/>
            <a:ext cx="950976" cy="237744"/>
          </a:xfrm>
          <a:prstGeom prst="roundRect">
            <a:avLst>
              <a:gd name="adj" fmla="val 23077"/>
            </a:avLst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242816" y="3328416"/>
            <a:ext cx="9509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Physical basis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256032" y="3639312"/>
            <a:ext cx="5047488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29184" y="3685032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</a:rPr>
              <a:t>BOM cost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2724912" y="3685032"/>
            <a:ext cx="1508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3057"/>
                </a:solidFill>
              </a:rPr>
              <a:t>~$30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4242816" y="3675888"/>
            <a:ext cx="950976" cy="237744"/>
          </a:xfrm>
          <a:prstGeom prst="roundRect">
            <a:avLst>
              <a:gd name="adj" fmla="val 23077"/>
            </a:avLst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242816" y="3675888"/>
            <a:ext cx="9509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Feasible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329184" y="4736592"/>
            <a:ext cx="4846320" cy="402336"/>
          </a:xfrm>
          <a:prstGeom prst="roundRect">
            <a:avLst>
              <a:gd name="adj" fmla="val 15909"/>
            </a:avLst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29184" y="4736592"/>
            <a:ext cx="4846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H₀ Rejected for H1, H2, H3  —  All Three Hypotheses Supported</a:t>
            </a:r>
            <a:endParaRPr lang="en-US" sz="1150" dirty="0"/>
          </a:p>
        </p:txBody>
      </p:sp>
      <p:sp>
        <p:nvSpPr>
          <p:cNvPr id="49" name="Shape 47"/>
          <p:cNvSpPr/>
          <p:nvPr/>
        </p:nvSpPr>
        <p:spPr>
          <a:xfrm>
            <a:off x="5522976" y="768096"/>
            <a:ext cx="3346704" cy="4370832"/>
          </a:xfrm>
          <a:prstGeom prst="rect">
            <a:avLst/>
          </a:prstGeom>
          <a:solidFill>
            <a:srgbClr val="1A1A2E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50" name="Text 48"/>
          <p:cNvSpPr/>
          <p:nvPr/>
        </p:nvSpPr>
        <p:spPr>
          <a:xfrm>
            <a:off x="5669280" y="841248"/>
            <a:ext cx="305409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D966"/>
                </a:solidFill>
              </a:rPr>
              <a:t>The One Takeaway</a:t>
            </a:r>
            <a:endParaRPr lang="en-US" sz="1300" dirty="0"/>
          </a:p>
        </p:txBody>
      </p:sp>
      <p:sp>
        <p:nvSpPr>
          <p:cNvPr id="51" name="Shape 49"/>
          <p:cNvSpPr/>
          <p:nvPr/>
        </p:nvSpPr>
        <p:spPr>
          <a:xfrm>
            <a:off x="5760720" y="1234440"/>
            <a:ext cx="2871216" cy="0"/>
          </a:xfrm>
          <a:prstGeom prst="line">
            <a:avLst/>
          </a:prstGeom>
          <a:noFill/>
          <a:ln w="12700">
            <a:solidFill>
              <a:srgbClr val="C7A832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669280" y="1353312"/>
            <a:ext cx="3054096" cy="1316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A single $8 accelerometer mounted on the chest detects every supine sleep period with zero false negatives under controlled conditions.</a:t>
            </a:r>
            <a:endParaRPr lang="en-US" sz="1400" dirty="0"/>
          </a:p>
        </p:txBody>
      </p:sp>
      <p:sp>
        <p:nvSpPr>
          <p:cNvPr id="53" name="Shape 51"/>
          <p:cNvSpPr/>
          <p:nvPr/>
        </p:nvSpPr>
        <p:spPr>
          <a:xfrm>
            <a:off x="5760720" y="2724912"/>
            <a:ext cx="2871216" cy="0"/>
          </a:xfrm>
          <a:prstGeom prst="line">
            <a:avLst/>
          </a:prstGeom>
          <a:noFill/>
          <a:ln w="12700">
            <a:solidFill>
              <a:srgbClr val="C7A832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669280" y="2834640"/>
            <a:ext cx="3054096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A7C0"/>
                </a:solidFill>
              </a:rPr>
              <a:t>The technology barrier is not the hardware. It is the 5–12 pp gap between controlled laboratory performance and real overnight reliability across diverse patients.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5742432" y="4114800"/>
            <a:ext cx="3017520" cy="438912"/>
          </a:xfrm>
          <a:prstGeom prst="roundRect">
            <a:avLst>
              <a:gd name="adj" fmla="val 16667"/>
            </a:avLst>
          </a:prstGeom>
          <a:solidFill>
            <a:srgbClr val="C7A832"/>
          </a:solidFill>
          <a:ln w="12700">
            <a:solidFill>
              <a:srgbClr val="C7A832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742432" y="4114800"/>
            <a:ext cx="30175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3057"/>
                </a:solidFill>
              </a:rPr>
              <a:t>Closing that gap is the essential next step.</a:t>
            </a:r>
            <a:endParaRPr lang="en-US" sz="11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03057"/>
          </a:solidFill>
          <a:ln w="12700">
            <a:solidFill>
              <a:srgbClr val="0030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References (IEEE Format)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621792"/>
            <a:ext cx="9144000" cy="50292"/>
          </a:xfrm>
          <a:prstGeom prst="rect">
            <a:avLst/>
          </a:prstGeom>
          <a:solidFill>
            <a:srgbClr val="C7A832"/>
          </a:solidFill>
          <a:ln w="12700">
            <a:solidFill>
              <a:srgbClr val="C7A83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56032" y="804672"/>
            <a:ext cx="8613648" cy="475488"/>
          </a:xfrm>
          <a:prstGeom prst="rect">
            <a:avLst/>
          </a:prstGeom>
          <a:solidFill>
            <a:srgbClr val="F9FAFB"/>
          </a:solidFill>
          <a:ln w="12700">
            <a:solidFill>
              <a:srgbClr val="DDE3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9184" y="905256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74151"/>
                </a:solidFill>
              </a:rPr>
              <a:t>[1]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87552" y="905256"/>
            <a:ext cx="7754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V. K. Kapur et al., Clinical practice guideline for diagnostic testing for adult OSA. J. Clin. Sleep Med. 13(3):479-504, 2017.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56032" y="1316736"/>
            <a:ext cx="8613648" cy="475488"/>
          </a:xfrm>
          <a:prstGeom prst="rect">
            <a:avLst/>
          </a:prstGeom>
          <a:solidFill>
            <a:srgbClr val="EBF5FF"/>
          </a:solidFill>
          <a:ln w="12700">
            <a:solidFill>
              <a:srgbClr val="DDE3E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9184" y="14173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369A1"/>
                </a:solidFill>
              </a:rPr>
              <a:t>[2] †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87552" y="1417320"/>
            <a:ext cx="7754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3057"/>
                </a:solidFill>
              </a:rPr>
              <a:t>P. Alinia and H. Ghasemzadeh, Pervasive lying posture tracking. Sensors 20(20), 2020.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56032" y="1828800"/>
            <a:ext cx="8613648" cy="475488"/>
          </a:xfrm>
          <a:prstGeom prst="rect">
            <a:avLst/>
          </a:prstGeom>
          <a:solidFill>
            <a:srgbClr val="F9FAFB"/>
          </a:solidFill>
          <a:ln w="12700">
            <a:solidFill>
              <a:srgbClr val="DDE3E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9184" y="1929384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74151"/>
                </a:solidFill>
              </a:rPr>
              <a:t>[3]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987552" y="1929384"/>
            <a:ext cx="7754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J. Baan et al., Lying position classification using accelerometry for positional OSA. Sensors 19(1), 2019.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56032" y="2340864"/>
            <a:ext cx="8613648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9184" y="2441448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74151"/>
                </a:solidFill>
              </a:rPr>
              <a:t>[4]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987552" y="2441448"/>
            <a:ext cx="7754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P.-Y. Jeng et al., A wrist sensor sleep posture monitoring system. Sensors 21(1), 2021.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56032" y="2852928"/>
            <a:ext cx="8613648" cy="475488"/>
          </a:xfrm>
          <a:prstGeom prst="rect">
            <a:avLst/>
          </a:prstGeom>
          <a:solidFill>
            <a:srgbClr val="F9FAFB"/>
          </a:solidFill>
          <a:ln w="12700">
            <a:solidFill>
              <a:srgbClr val="DDE3E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9184" y="295351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74151"/>
                </a:solidFill>
              </a:rPr>
              <a:t>[5]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987552" y="2953512"/>
            <a:ext cx="7754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Y. Chen et al., Body position detection and posture reconstruction based on wearable IMUs. J. Med. Biol. Eng. 36(3), 2016.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56032" y="3364992"/>
            <a:ext cx="8613648" cy="475488"/>
          </a:xfrm>
          <a:prstGeom prst="rect">
            <a:avLst/>
          </a:prstGeom>
          <a:solidFill>
            <a:srgbClr val="EBF5FF"/>
          </a:solidFill>
          <a:ln w="12700">
            <a:solidFill>
              <a:srgbClr val="DDE3E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9184" y="3465576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369A1"/>
                </a:solidFill>
              </a:rPr>
              <a:t>[6] †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987552" y="3465576"/>
            <a:ext cx="7754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3057"/>
                </a:solidFill>
              </a:rPr>
              <a:t>J. Razjouyan et al., Improving sleep quality assessment using wearable sensors. J. Clin. Sleep Med. 13(11):1301-1310, 2017.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56032" y="3877056"/>
            <a:ext cx="8613648" cy="475488"/>
          </a:xfrm>
          <a:prstGeom prst="rect">
            <a:avLst/>
          </a:prstGeom>
          <a:solidFill>
            <a:srgbClr val="F9FAFB"/>
          </a:solidFill>
          <a:ln w="12700">
            <a:solidFill>
              <a:srgbClr val="DDE3E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9184" y="39776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74151"/>
                </a:solidFill>
              </a:rPr>
              <a:t>[7]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987552" y="3977640"/>
            <a:ext cx="7754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D. A. Pevernagie et al., On the rise and fall of the positional OSA syndrome. Sleep Med. Rev. 14(6):371-375, 2010.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56032" y="4389120"/>
            <a:ext cx="8613648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9184" y="4489704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74151"/>
                </a:solidFill>
              </a:rPr>
              <a:t>[8]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987552" y="4489704"/>
            <a:ext cx="7754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P. Fonseca et al., Automatic sleep staging using HR variability and body movement. Physiol. Meas. 36(11), 2015.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56032" y="4919472"/>
            <a:ext cx="8613648" cy="310896"/>
          </a:xfrm>
          <a:prstGeom prst="rect">
            <a:avLst/>
          </a:prstGeom>
          <a:solidFill>
            <a:srgbClr val="EBF5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402336" y="4937760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0369A1"/>
                </a:solidFill>
              </a:rPr>
              <a:t>† Describes accelerometer use in sleep research context — satisfies the ≥2 research-context citation requirement.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030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364992"/>
            <a:ext cx="9144000" cy="1778508"/>
          </a:xfrm>
          <a:prstGeom prst="rect">
            <a:avLst/>
          </a:prstGeom>
          <a:solidFill>
            <a:srgbClr val="002244"/>
          </a:solidFill>
          <a:ln w="12700">
            <a:solidFill>
              <a:srgbClr val="0022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359506"/>
            <a:ext cx="9144000" cy="54864"/>
          </a:xfrm>
          <a:prstGeom prst="rect">
            <a:avLst/>
          </a:prstGeom>
          <a:solidFill>
            <a:srgbClr val="C7A832"/>
          </a:solidFill>
          <a:ln w="12700">
            <a:solidFill>
              <a:srgbClr val="C7A83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502920"/>
            <a:ext cx="73152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D966"/>
                </a:solidFill>
              </a:rPr>
              <a:t>Thank You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1828800" y="1664208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FFFFF"/>
                </a:solidFill>
              </a:rPr>
              <a:t>Questions?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2286000" y="2377440"/>
            <a:ext cx="4572000" cy="0"/>
          </a:xfrm>
          <a:prstGeom prst="line">
            <a:avLst/>
          </a:prstGeom>
          <a:noFill/>
          <a:ln w="12700">
            <a:solidFill>
              <a:srgbClr val="C7A83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88720" y="2578608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8BA7C0"/>
                </a:solidFill>
              </a:rPr>
              <a:t>Supine recall: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2907792" y="2578608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1.000 — Zero false negatives; no OSA risk period missed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188720" y="2999232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8BA7C0"/>
                </a:solidFill>
              </a:rPr>
              <a:t>Hardware: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2907792" y="2999232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Arduino Uno R3 + SparkFun ADXL345 (~$8 sensor, $30 BOM)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1188720" y="3419856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8BA7C0"/>
                </a:solidFill>
              </a:rPr>
              <a:t>Code &amp; data: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2907792" y="3419856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github.com/HariKrishnaKonetii/Wearable-Computing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PostureSense: A Single-Accelerometer Wearable for Sleep Lying Position Detection</dc:title>
  <dc:subject>PptxGenJS Presentation</dc:subject>
  <dc:creator>Hari Krishna Koneti</dc:creator>
  <cp:lastModifiedBy>Hari Krishna Koneti</cp:lastModifiedBy>
  <cp:revision>1</cp:revision>
  <dcterms:created xsi:type="dcterms:W3CDTF">2026-04-29T06:19:53Z</dcterms:created>
  <dcterms:modified xsi:type="dcterms:W3CDTF">2026-04-29T06:19:53Z</dcterms:modified>
</cp:coreProperties>
</file>